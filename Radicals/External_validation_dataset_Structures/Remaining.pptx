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5" r:id="rId6"/>
    <p:sldId id="266" r:id="rId7"/>
  </p:sldIdLst>
  <p:sldSz cx="9144000" cy="5143500" type="screen16x9"/>
  <p:notesSz cx="6858000" cy="9144000"/>
  <p:photoAlbum showCaptions="1" layout="4picTitle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2" d="100"/>
          <a:sy n="82" d="100"/>
        </p:scale>
        <p:origin x="-942" y="-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692E3-1EC6-474E-A3A8-6CCE13807268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8AA92-1126-44BD-A196-032ED39A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2" Type="http://schemas.openxmlformats.org/officeDocument/2006/relationships/image" Target="../media/image19.jpeg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Relationship Id="rId14" Type="http://schemas.openxmlformats.org/officeDocument/2006/relationships/image" Target="../media/image3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12" Type="http://schemas.openxmlformats.org/officeDocument/2006/relationships/image" Target="../media/image44.jpeg"/><Relationship Id="rId17" Type="http://schemas.openxmlformats.org/officeDocument/2006/relationships/image" Target="../media/image49.jpeg"/><Relationship Id="rId2" Type="http://schemas.openxmlformats.org/officeDocument/2006/relationships/image" Target="../media/image34.jpeg"/><Relationship Id="rId16" Type="http://schemas.openxmlformats.org/officeDocument/2006/relationships/image" Target="../media/image4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jpeg"/><Relationship Id="rId11" Type="http://schemas.openxmlformats.org/officeDocument/2006/relationships/image" Target="../media/image43.jpeg"/><Relationship Id="rId5" Type="http://schemas.openxmlformats.org/officeDocument/2006/relationships/image" Target="../media/image37.jpeg"/><Relationship Id="rId15" Type="http://schemas.openxmlformats.org/officeDocument/2006/relationships/image" Target="../media/image47.jpeg"/><Relationship Id="rId10" Type="http://schemas.openxmlformats.org/officeDocument/2006/relationships/image" Target="../media/image42.jpeg"/><Relationship Id="rId4" Type="http://schemas.openxmlformats.org/officeDocument/2006/relationships/image" Target="../media/image36.jpeg"/><Relationship Id="rId9" Type="http://schemas.openxmlformats.org/officeDocument/2006/relationships/image" Target="../media/image41.jpeg"/><Relationship Id="rId14" Type="http://schemas.openxmlformats.org/officeDocument/2006/relationships/image" Target="../media/image4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image" Target="../media/image61.jpeg"/><Relationship Id="rId3" Type="http://schemas.openxmlformats.org/officeDocument/2006/relationships/image" Target="../media/image51.jpeg"/><Relationship Id="rId7" Type="http://schemas.openxmlformats.org/officeDocument/2006/relationships/image" Target="../media/image55.jpeg"/><Relationship Id="rId12" Type="http://schemas.openxmlformats.org/officeDocument/2006/relationships/image" Target="../media/image60.jpeg"/><Relationship Id="rId2" Type="http://schemas.openxmlformats.org/officeDocument/2006/relationships/image" Target="../media/image50.jpeg"/><Relationship Id="rId16" Type="http://schemas.openxmlformats.org/officeDocument/2006/relationships/image" Target="../media/image6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jpeg"/><Relationship Id="rId15" Type="http://schemas.openxmlformats.org/officeDocument/2006/relationships/image" Target="../media/image63.jpeg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jpeg"/><Relationship Id="rId14" Type="http://schemas.openxmlformats.org/officeDocument/2006/relationships/image" Target="../media/image6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13" Type="http://schemas.openxmlformats.org/officeDocument/2006/relationships/image" Target="../media/image76.jpeg"/><Relationship Id="rId3" Type="http://schemas.openxmlformats.org/officeDocument/2006/relationships/image" Target="../media/image66.jpeg"/><Relationship Id="rId7" Type="http://schemas.openxmlformats.org/officeDocument/2006/relationships/image" Target="../media/image70.jpeg"/><Relationship Id="rId12" Type="http://schemas.openxmlformats.org/officeDocument/2006/relationships/image" Target="../media/image75.jpeg"/><Relationship Id="rId2" Type="http://schemas.openxmlformats.org/officeDocument/2006/relationships/image" Target="../media/image65.jpeg"/><Relationship Id="rId16" Type="http://schemas.openxmlformats.org/officeDocument/2006/relationships/image" Target="../media/image7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jpeg"/><Relationship Id="rId11" Type="http://schemas.openxmlformats.org/officeDocument/2006/relationships/image" Target="../media/image74.jpeg"/><Relationship Id="rId5" Type="http://schemas.openxmlformats.org/officeDocument/2006/relationships/image" Target="../media/image68.jpeg"/><Relationship Id="rId15" Type="http://schemas.openxmlformats.org/officeDocument/2006/relationships/image" Target="../media/image78.jpeg"/><Relationship Id="rId10" Type="http://schemas.openxmlformats.org/officeDocument/2006/relationships/image" Target="../media/image73.jpeg"/><Relationship Id="rId4" Type="http://schemas.openxmlformats.org/officeDocument/2006/relationships/image" Target="../media/image67.jpeg"/><Relationship Id="rId9" Type="http://schemas.openxmlformats.org/officeDocument/2006/relationships/image" Target="../media/image72.jpeg"/><Relationship Id="rId14" Type="http://schemas.openxmlformats.org/officeDocument/2006/relationships/image" Target="../media/image7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7" Type="http://schemas.openxmlformats.org/officeDocument/2006/relationships/image" Target="../media/image85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Grp="1" noUngrp="1" noChangeAspect="1"/>
          </p:cNvGrpSpPr>
          <p:nvPr/>
        </p:nvGrpSpPr>
        <p:grpSpPr>
          <a:xfrm>
            <a:off x="0" y="57150"/>
            <a:ext cx="1905000" cy="1555373"/>
            <a:chOff x="354211" y="1646238"/>
            <a:chExt cx="4043164" cy="2902146"/>
          </a:xfrm>
        </p:grpSpPr>
        <p:pic>
          <p:nvPicPr>
            <p:cNvPr id="3" name="Picture 2" descr="1-acetyloxypent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515938" y="1646238"/>
              <a:ext cx="3881437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/>
            <p:cNvSpPr/>
            <p:nvPr/>
          </p:nvSpPr>
          <p:spPr>
            <a:xfrm>
              <a:off x="354211" y="4205485"/>
              <a:ext cx="3881437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1-acetyloxypentyl</a:t>
              </a:r>
            </a:p>
            <a:p>
              <a:pPr algn="ctr"/>
              <a:endParaRPr lang="en-US" sz="1200" b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7"/>
          <p:cNvGrpSpPr>
            <a:grpSpLocks noGrp="1" noUngrp="1" noChangeAspect="1"/>
          </p:cNvGrpSpPr>
          <p:nvPr/>
        </p:nvGrpSpPr>
        <p:grpSpPr>
          <a:xfrm>
            <a:off x="1905000" y="76200"/>
            <a:ext cx="1524000" cy="1470515"/>
            <a:chOff x="5489575" y="1646238"/>
            <a:chExt cx="2393950" cy="2596957"/>
          </a:xfrm>
        </p:grpSpPr>
        <p:pic>
          <p:nvPicPr>
            <p:cNvPr id="6" name="Picture 5" descr="2-aminopheny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5489575" y="1646238"/>
              <a:ext cx="2393950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/>
            <p:cNvSpPr/>
            <p:nvPr/>
          </p:nvSpPr>
          <p:spPr>
            <a:xfrm>
              <a:off x="5489575" y="3900296"/>
              <a:ext cx="239395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2-aminophenyl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3429000" y="76200"/>
            <a:ext cx="1420024" cy="1445766"/>
            <a:chOff x="1436688" y="4137025"/>
            <a:chExt cx="2155609" cy="2926247"/>
          </a:xfrm>
        </p:grpSpPr>
        <p:pic>
          <p:nvPicPr>
            <p:cNvPr id="9" name="Picture 8" descr="2-chlorophen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1436688" y="4137025"/>
              <a:ext cx="2039937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1552360" y="6720372"/>
              <a:ext cx="20399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2-chlorophenyl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4829581" y="133351"/>
            <a:ext cx="1313638" cy="1368515"/>
            <a:chOff x="5595938" y="4137025"/>
            <a:chExt cx="2262553" cy="3142759"/>
          </a:xfrm>
        </p:grpSpPr>
        <p:pic>
          <p:nvPicPr>
            <p:cNvPr id="12" name="Picture 11" descr="2-fluorophen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5595938" y="4137025"/>
              <a:ext cx="2181225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5677266" y="6936884"/>
              <a:ext cx="21812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2-fluorophenyl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Group 14"/>
          <p:cNvGrpSpPr>
            <a:grpSpLocks noGrp="1" noUngrp="1" noChangeAspect="1"/>
          </p:cNvGrpSpPr>
          <p:nvPr/>
        </p:nvGrpSpPr>
        <p:grpSpPr>
          <a:xfrm>
            <a:off x="6172200" y="76200"/>
            <a:ext cx="1361364" cy="1457252"/>
            <a:chOff x="1289050" y="1646238"/>
            <a:chExt cx="2335213" cy="2762224"/>
          </a:xfrm>
        </p:grpSpPr>
        <p:pic>
          <p:nvPicPr>
            <p:cNvPr id="16" name="Picture 15" descr="2-hydroxyphen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1289050" y="1646238"/>
              <a:ext cx="2335213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1289050" y="4065562"/>
              <a:ext cx="23352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2-hydroxyphenyl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" name="Group 17"/>
          <p:cNvGrpSpPr>
            <a:grpSpLocks noGrp="1" noUngrp="1" noChangeAspect="1"/>
          </p:cNvGrpSpPr>
          <p:nvPr/>
        </p:nvGrpSpPr>
        <p:grpSpPr>
          <a:xfrm>
            <a:off x="76200" y="1657350"/>
            <a:ext cx="1573790" cy="1575474"/>
            <a:chOff x="5741988" y="1646238"/>
            <a:chExt cx="1985247" cy="2649829"/>
          </a:xfrm>
        </p:grpSpPr>
        <p:pic>
          <p:nvPicPr>
            <p:cNvPr id="19" name="Picture 18" descr="3-aminophen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5741988" y="1646238"/>
              <a:ext cx="1889125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5838110" y="3953166"/>
              <a:ext cx="1889125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3-aminophenyl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" name="Group 20"/>
          <p:cNvGrpSpPr>
            <a:grpSpLocks noGrp="1" noUngrp="1" noChangeAspect="1"/>
          </p:cNvGrpSpPr>
          <p:nvPr/>
        </p:nvGrpSpPr>
        <p:grpSpPr>
          <a:xfrm>
            <a:off x="1676400" y="1655987"/>
            <a:ext cx="1447800" cy="1503712"/>
            <a:chOff x="1504950" y="4137025"/>
            <a:chExt cx="1905000" cy="2491531"/>
          </a:xfrm>
        </p:grpSpPr>
        <p:pic>
          <p:nvPicPr>
            <p:cNvPr id="22" name="Picture 21" descr="3-chlorophenyl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1504950" y="4137025"/>
              <a:ext cx="1905000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>
              <a:off x="1504950" y="6285656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3-chlorophenyl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23"/>
          <p:cNvGrpSpPr>
            <a:grpSpLocks noGrp="1" noUngrp="1" noChangeAspect="1"/>
          </p:cNvGrpSpPr>
          <p:nvPr/>
        </p:nvGrpSpPr>
        <p:grpSpPr>
          <a:xfrm>
            <a:off x="3200400" y="1676400"/>
            <a:ext cx="1294327" cy="1621138"/>
            <a:chOff x="5681663" y="4137025"/>
            <a:chExt cx="2008187" cy="2889418"/>
          </a:xfrm>
        </p:grpSpPr>
        <p:pic>
          <p:nvPicPr>
            <p:cNvPr id="25" name="Picture 24" descr="3-hydroxyphenyl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5681663" y="4137025"/>
              <a:ext cx="2008187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Rectangle 25"/>
            <p:cNvSpPr/>
            <p:nvPr/>
          </p:nvSpPr>
          <p:spPr>
            <a:xfrm>
              <a:off x="5681663" y="6683542"/>
              <a:ext cx="200818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3-hydroxyphenyl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" name="Group 26"/>
          <p:cNvGrpSpPr>
            <a:grpSpLocks noGrp="1" noUngrp="1" noChangeAspect="1"/>
          </p:cNvGrpSpPr>
          <p:nvPr/>
        </p:nvGrpSpPr>
        <p:grpSpPr>
          <a:xfrm>
            <a:off x="4648200" y="1768079"/>
            <a:ext cx="1295400" cy="1489472"/>
            <a:chOff x="1058010" y="1646238"/>
            <a:chExt cx="3163902" cy="3056806"/>
          </a:xfrm>
        </p:grpSpPr>
        <p:pic>
          <p:nvPicPr>
            <p:cNvPr id="28" name="Picture 27" descr="3-methylphenyl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1063625" y="1646238"/>
              <a:ext cx="2786063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Rectangle 28"/>
            <p:cNvSpPr/>
            <p:nvPr/>
          </p:nvSpPr>
          <p:spPr>
            <a:xfrm>
              <a:off x="1058010" y="4390277"/>
              <a:ext cx="3163902" cy="312767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3-methylphenyl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Group 29"/>
          <p:cNvGrpSpPr>
            <a:grpSpLocks noGrp="1" noUngrp="1" noChangeAspect="1"/>
          </p:cNvGrpSpPr>
          <p:nvPr/>
        </p:nvGrpSpPr>
        <p:grpSpPr>
          <a:xfrm>
            <a:off x="6019799" y="1733550"/>
            <a:ext cx="1295401" cy="1456202"/>
            <a:chOff x="5624427" y="1646238"/>
            <a:chExt cx="2071773" cy="3105264"/>
          </a:xfrm>
        </p:grpSpPr>
        <p:pic>
          <p:nvPicPr>
            <p:cNvPr id="31" name="Picture 30" descr="4-aminophenyl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5675313" y="1646238"/>
              <a:ext cx="2020887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Rectangle 31"/>
            <p:cNvSpPr/>
            <p:nvPr/>
          </p:nvSpPr>
          <p:spPr>
            <a:xfrm>
              <a:off x="5624427" y="4408601"/>
              <a:ext cx="202088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4-aminophenyl</a:t>
              </a:r>
              <a:endParaRPr lang="en-US" sz="1200" b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3" name="Group 32"/>
          <p:cNvGrpSpPr>
            <a:grpSpLocks noGrp="1" noUngrp="1" noChangeAspect="1"/>
          </p:cNvGrpSpPr>
          <p:nvPr/>
        </p:nvGrpSpPr>
        <p:grpSpPr>
          <a:xfrm>
            <a:off x="7772400" y="1657350"/>
            <a:ext cx="1219200" cy="1483139"/>
            <a:chOff x="1127125" y="4137025"/>
            <a:chExt cx="2659063" cy="2708906"/>
          </a:xfrm>
        </p:grpSpPr>
        <p:pic>
          <p:nvPicPr>
            <p:cNvPr id="34" name="Picture 33" descr="4-chlorophenyl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1127125" y="4137025"/>
              <a:ext cx="2659063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Rectangle 34"/>
            <p:cNvSpPr/>
            <p:nvPr/>
          </p:nvSpPr>
          <p:spPr>
            <a:xfrm>
              <a:off x="1127125" y="6503032"/>
              <a:ext cx="2659063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4-chlorophenyl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" name="Group 35"/>
          <p:cNvGrpSpPr>
            <a:grpSpLocks noGrp="1" noUngrp="1" noChangeAspect="1"/>
          </p:cNvGrpSpPr>
          <p:nvPr/>
        </p:nvGrpSpPr>
        <p:grpSpPr>
          <a:xfrm>
            <a:off x="76198" y="3393483"/>
            <a:ext cx="1295400" cy="1597294"/>
            <a:chOff x="5937250" y="4137025"/>
            <a:chExt cx="1592263" cy="2617788"/>
          </a:xfrm>
        </p:grpSpPr>
        <p:pic>
          <p:nvPicPr>
            <p:cNvPr id="37" name="Picture 36" descr="4-cyanophenyl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5937250" y="4137025"/>
              <a:ext cx="1498600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Rectangle 37"/>
            <p:cNvSpPr/>
            <p:nvPr/>
          </p:nvSpPr>
          <p:spPr>
            <a:xfrm>
              <a:off x="6030913" y="6411913"/>
              <a:ext cx="1498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4-cyanophenyl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Group 38"/>
          <p:cNvGrpSpPr>
            <a:grpSpLocks noGrp="1" noUngrp="1" noChangeAspect="1"/>
          </p:cNvGrpSpPr>
          <p:nvPr/>
        </p:nvGrpSpPr>
        <p:grpSpPr>
          <a:xfrm>
            <a:off x="1364421" y="3638550"/>
            <a:ext cx="1919358" cy="1391488"/>
            <a:chOff x="1030288" y="1646238"/>
            <a:chExt cx="2865041" cy="2769447"/>
          </a:xfrm>
        </p:grpSpPr>
        <p:pic>
          <p:nvPicPr>
            <p:cNvPr id="40" name="Picture 39" descr="4-ethoxycarbonylphenyl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1030288" y="1646238"/>
              <a:ext cx="2854325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Rectangle 40"/>
            <p:cNvSpPr/>
            <p:nvPr/>
          </p:nvSpPr>
          <p:spPr>
            <a:xfrm>
              <a:off x="1041004" y="4072784"/>
              <a:ext cx="2854325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4-ethoxycarbonylphenyl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2" name="Group 41"/>
          <p:cNvGrpSpPr>
            <a:grpSpLocks noGrp="1" noUngrp="1" noChangeAspect="1"/>
          </p:cNvGrpSpPr>
          <p:nvPr/>
        </p:nvGrpSpPr>
        <p:grpSpPr>
          <a:xfrm>
            <a:off x="3276600" y="3638550"/>
            <a:ext cx="1219200" cy="1315288"/>
            <a:chOff x="5648325" y="1646238"/>
            <a:chExt cx="2076450" cy="2617788"/>
          </a:xfrm>
        </p:grpSpPr>
        <p:pic>
          <p:nvPicPr>
            <p:cNvPr id="43" name="Picture 42" descr="4-fluorophenyl.jpg"/>
            <p:cNvPicPr>
              <a:picLocks noRot="1" noChangeAspect="1" noMove="1" noResize="1"/>
            </p:cNvPicPr>
            <p:nvPr isPhoto="1"/>
          </p:nvPicPr>
          <p:blipFill>
            <a:blip r:embed="rId15" cstate="print">
              <a:lum/>
            </a:blip>
            <a:stretch>
              <a:fillRect/>
            </a:stretch>
          </p:blipFill>
          <p:spPr>
            <a:xfrm>
              <a:off x="5648325" y="1646238"/>
              <a:ext cx="2076450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Rectangle 43"/>
            <p:cNvSpPr/>
            <p:nvPr/>
          </p:nvSpPr>
          <p:spPr>
            <a:xfrm>
              <a:off x="5648325" y="3921125"/>
              <a:ext cx="207645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4-fluorophenyl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Group 44"/>
          <p:cNvGrpSpPr>
            <a:grpSpLocks noGrp="1" noUngrp="1" noChangeAspect="1"/>
          </p:cNvGrpSpPr>
          <p:nvPr/>
        </p:nvGrpSpPr>
        <p:grpSpPr>
          <a:xfrm>
            <a:off x="4648200" y="3693039"/>
            <a:ext cx="1524000" cy="1241099"/>
            <a:chOff x="1173163" y="4137025"/>
            <a:chExt cx="2568575" cy="2789025"/>
          </a:xfrm>
        </p:grpSpPr>
        <p:pic>
          <p:nvPicPr>
            <p:cNvPr id="46" name="Picture 45" descr="4-methoxyphenyl.jpg"/>
            <p:cNvPicPr>
              <a:picLocks noRot="1" noChangeAspect="1" noMove="1" noResize="1"/>
            </p:cNvPicPr>
            <p:nvPr isPhoto="1"/>
          </p:nvPicPr>
          <p:blipFill>
            <a:blip r:embed="rId16" cstate="print">
              <a:lum/>
            </a:blip>
            <a:stretch>
              <a:fillRect/>
            </a:stretch>
          </p:blipFill>
          <p:spPr>
            <a:xfrm>
              <a:off x="1173163" y="4137025"/>
              <a:ext cx="2568575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Rectangle 46"/>
            <p:cNvSpPr/>
            <p:nvPr/>
          </p:nvSpPr>
          <p:spPr>
            <a:xfrm>
              <a:off x="1173163" y="6583151"/>
              <a:ext cx="2568575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4-methoxyphenyl</a:t>
              </a:r>
            </a:p>
            <a:p>
              <a:pPr algn="ctr"/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8" name="Group 47"/>
          <p:cNvGrpSpPr>
            <a:grpSpLocks noGrp="1" noUngrp="1" noChangeAspect="1"/>
          </p:cNvGrpSpPr>
          <p:nvPr/>
        </p:nvGrpSpPr>
        <p:grpSpPr>
          <a:xfrm>
            <a:off x="6248400" y="3552749"/>
            <a:ext cx="1295400" cy="1457401"/>
            <a:chOff x="5786438" y="4137025"/>
            <a:chExt cx="1798637" cy="2698097"/>
          </a:xfrm>
        </p:grpSpPr>
        <p:pic>
          <p:nvPicPr>
            <p:cNvPr id="49" name="Picture 48" descr="4-methylphenyl.jpg"/>
            <p:cNvPicPr>
              <a:picLocks noRot="1" noChangeAspect="1" noMove="1" noResize="1"/>
            </p:cNvPicPr>
            <p:nvPr isPhoto="1"/>
          </p:nvPicPr>
          <p:blipFill>
            <a:blip r:embed="rId17" cstate="print">
              <a:lum/>
            </a:blip>
            <a:stretch>
              <a:fillRect/>
            </a:stretch>
          </p:blipFill>
          <p:spPr>
            <a:xfrm>
              <a:off x="5786438" y="4137025"/>
              <a:ext cx="1798637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5786438" y="6492223"/>
              <a:ext cx="1798637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4-methylphenyl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50"/>
          <p:cNvGrpSpPr>
            <a:grpSpLocks noGrp="1" noUngrp="1" noChangeAspect="1"/>
          </p:cNvGrpSpPr>
          <p:nvPr/>
        </p:nvGrpSpPr>
        <p:grpSpPr>
          <a:xfrm>
            <a:off x="7696200" y="133350"/>
            <a:ext cx="1295400" cy="1219200"/>
            <a:chOff x="1438275" y="1646238"/>
            <a:chExt cx="2417067" cy="3033183"/>
          </a:xfrm>
        </p:grpSpPr>
        <p:pic>
          <p:nvPicPr>
            <p:cNvPr id="52" name="Picture 51" descr="22-dimethylpropyl.jpg"/>
            <p:cNvPicPr>
              <a:picLocks noRot="1" noChangeAspect="1" noMove="1" noResize="1"/>
            </p:cNvPicPr>
            <p:nvPr isPhoto="1"/>
          </p:nvPicPr>
          <p:blipFill>
            <a:blip r:embed="rId18" cstate="print">
              <a:lum/>
            </a:blip>
            <a:stretch>
              <a:fillRect/>
            </a:stretch>
          </p:blipFill>
          <p:spPr>
            <a:xfrm>
              <a:off x="1438275" y="1646238"/>
              <a:ext cx="2038350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Rectangle 52"/>
            <p:cNvSpPr/>
            <p:nvPr/>
          </p:nvSpPr>
          <p:spPr>
            <a:xfrm>
              <a:off x="1438275" y="4300273"/>
              <a:ext cx="2417067" cy="37914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22-dimethylpropyl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4" name="Group 53"/>
          <p:cNvGrpSpPr>
            <a:grpSpLocks noGrp="1" noUngrp="1" noChangeAspect="1"/>
          </p:cNvGrpSpPr>
          <p:nvPr/>
        </p:nvGrpSpPr>
        <p:grpSpPr>
          <a:xfrm>
            <a:off x="7620000" y="3562350"/>
            <a:ext cx="1409496" cy="1227602"/>
            <a:chOff x="5389563" y="1646238"/>
            <a:chExt cx="2592387" cy="2617788"/>
          </a:xfrm>
        </p:grpSpPr>
        <p:pic>
          <p:nvPicPr>
            <p:cNvPr id="55" name="Picture 54" descr="methyl_pivalate_radical.jpg"/>
            <p:cNvPicPr>
              <a:picLocks noRot="1" noChangeAspect="1" noMove="1" noResize="1"/>
            </p:cNvPicPr>
            <p:nvPr isPhoto="1"/>
          </p:nvPicPr>
          <p:blipFill>
            <a:blip r:embed="rId19" cstate="print">
              <a:lum/>
            </a:blip>
            <a:stretch>
              <a:fillRect/>
            </a:stretch>
          </p:blipFill>
          <p:spPr>
            <a:xfrm>
              <a:off x="5389563" y="1646238"/>
              <a:ext cx="2592387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Rectangle 55"/>
            <p:cNvSpPr/>
            <p:nvPr/>
          </p:nvSpPr>
          <p:spPr>
            <a:xfrm>
              <a:off x="5389563" y="3921125"/>
              <a:ext cx="259238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methyl_pivalate_radical</a:t>
              </a:r>
              <a:endParaRPr lang="en-US" sz="12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0" y="76200"/>
            <a:ext cx="2133600" cy="1217166"/>
            <a:chOff x="550489" y="4137025"/>
            <a:chExt cx="3746874" cy="2463558"/>
          </a:xfrm>
        </p:grpSpPr>
        <p:pic>
          <p:nvPicPr>
            <p:cNvPr id="9" name="Picture 8" descr="N-boc-piperidin-4-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15950" y="4137025"/>
              <a:ext cx="3681413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550489" y="6257683"/>
              <a:ext cx="36814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N-boc-piperidin-4-yl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2135568" y="133350"/>
            <a:ext cx="1598232" cy="1066800"/>
            <a:chOff x="5310188" y="4137025"/>
            <a:chExt cx="2752725" cy="2449879"/>
          </a:xfrm>
        </p:grpSpPr>
        <p:pic>
          <p:nvPicPr>
            <p:cNvPr id="12" name="Picture 11" descr="N-methylphthalimide_radica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5310188" y="4137025"/>
              <a:ext cx="2752725" cy="1919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5310188" y="6244004"/>
              <a:ext cx="2358994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methylphthalimide_radical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Group 14"/>
          <p:cNvGrpSpPr>
            <a:grpSpLocks noGrp="1" noUngrp="1" noChangeAspect="1"/>
          </p:cNvGrpSpPr>
          <p:nvPr/>
        </p:nvGrpSpPr>
        <p:grpSpPr>
          <a:xfrm>
            <a:off x="3733800" y="133350"/>
            <a:ext cx="1161347" cy="1052230"/>
            <a:chOff x="1373186" y="1646238"/>
            <a:chExt cx="2166939" cy="2617787"/>
          </a:xfrm>
        </p:grpSpPr>
        <p:pic>
          <p:nvPicPr>
            <p:cNvPr id="16" name="Picture 15" descr="NN-dimethylcarbamo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1373188" y="1646238"/>
              <a:ext cx="2166937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1373186" y="3921125"/>
              <a:ext cx="21669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NN-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dimethylcarbamoyl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" name="Group 17"/>
          <p:cNvGrpSpPr>
            <a:grpSpLocks noGrp="1" noUngrp="1" noChangeAspect="1"/>
          </p:cNvGrpSpPr>
          <p:nvPr/>
        </p:nvGrpSpPr>
        <p:grpSpPr>
          <a:xfrm>
            <a:off x="4953001" y="133350"/>
            <a:ext cx="1219199" cy="1003771"/>
            <a:chOff x="5584825" y="1646238"/>
            <a:chExt cx="2201863" cy="2274887"/>
          </a:xfrm>
        </p:grpSpPr>
        <p:pic>
          <p:nvPicPr>
            <p:cNvPr id="19" name="Picture 18" descr="phen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5584825" y="1646238"/>
              <a:ext cx="2201863" cy="1919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5584825" y="3578225"/>
              <a:ext cx="22018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phenyl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" name="Group 20"/>
          <p:cNvGrpSpPr>
            <a:grpSpLocks noGrp="1" noUngrp="1" noChangeAspect="1"/>
          </p:cNvGrpSpPr>
          <p:nvPr/>
        </p:nvGrpSpPr>
        <p:grpSpPr>
          <a:xfrm>
            <a:off x="6172200" y="133350"/>
            <a:ext cx="2830286" cy="990600"/>
            <a:chOff x="457200" y="4340225"/>
            <a:chExt cx="4000500" cy="1866900"/>
          </a:xfrm>
        </p:grpSpPr>
        <p:pic>
          <p:nvPicPr>
            <p:cNvPr id="22" name="Picture 21" descr="undec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457200" y="4340225"/>
              <a:ext cx="4000500" cy="151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>
              <a:off x="457200" y="5864225"/>
              <a:ext cx="4000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undecyl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" name="Group 35"/>
          <p:cNvGrpSpPr>
            <a:grpSpLocks noGrp="1" noUngrp="1" noChangeAspect="1"/>
          </p:cNvGrpSpPr>
          <p:nvPr/>
        </p:nvGrpSpPr>
        <p:grpSpPr>
          <a:xfrm>
            <a:off x="152400" y="1504950"/>
            <a:ext cx="1360979" cy="1535464"/>
            <a:chOff x="976313" y="457200"/>
            <a:chExt cx="2847975" cy="3213101"/>
          </a:xfrm>
        </p:grpSpPr>
        <p:pic>
          <p:nvPicPr>
            <p:cNvPr id="37" name="Picture 36" descr="dimethyl_phenyl_sil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976313" y="457200"/>
              <a:ext cx="28479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Rectangle 37"/>
            <p:cNvSpPr/>
            <p:nvPr/>
          </p:nvSpPr>
          <p:spPr>
            <a:xfrm>
              <a:off x="976313" y="3327400"/>
              <a:ext cx="2847975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dimethyl_phenyl_silyl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Group 38"/>
          <p:cNvGrpSpPr>
            <a:grpSpLocks noGrp="1" noUngrp="1" noChangeAspect="1"/>
          </p:cNvGrpSpPr>
          <p:nvPr/>
        </p:nvGrpSpPr>
        <p:grpSpPr>
          <a:xfrm>
            <a:off x="1524000" y="1428750"/>
            <a:ext cx="1451804" cy="1620767"/>
            <a:chOff x="5303838" y="457200"/>
            <a:chExt cx="2878137" cy="3213099"/>
          </a:xfrm>
        </p:grpSpPr>
        <p:pic>
          <p:nvPicPr>
            <p:cNvPr id="40" name="Picture 39" descr="triethyl_silyl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5303838" y="457200"/>
              <a:ext cx="28781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Rectangle 40"/>
            <p:cNvSpPr/>
            <p:nvPr/>
          </p:nvSpPr>
          <p:spPr>
            <a:xfrm>
              <a:off x="5303838" y="3327400"/>
              <a:ext cx="2878137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triethyl_silyl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2" name="Group 41"/>
          <p:cNvGrpSpPr>
            <a:grpSpLocks noGrp="1" noUngrp="1" noChangeAspect="1"/>
          </p:cNvGrpSpPr>
          <p:nvPr/>
        </p:nvGrpSpPr>
        <p:grpSpPr>
          <a:xfrm>
            <a:off x="3048000" y="1504950"/>
            <a:ext cx="1441057" cy="1517257"/>
            <a:chOff x="703263" y="457200"/>
            <a:chExt cx="3392487" cy="3571876"/>
          </a:xfrm>
        </p:grpSpPr>
        <p:pic>
          <p:nvPicPr>
            <p:cNvPr id="43" name="Picture 42" descr="3-cyanophenyl_methyl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703263" y="457200"/>
              <a:ext cx="339248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Rectangle 43"/>
            <p:cNvSpPr/>
            <p:nvPr/>
          </p:nvSpPr>
          <p:spPr>
            <a:xfrm>
              <a:off x="703263" y="3686175"/>
              <a:ext cx="339248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3-cyanophenyl_methyl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Group 44"/>
          <p:cNvGrpSpPr>
            <a:grpSpLocks noGrp="1" noUngrp="1" noChangeAspect="1"/>
          </p:cNvGrpSpPr>
          <p:nvPr/>
        </p:nvGrpSpPr>
        <p:grpSpPr>
          <a:xfrm>
            <a:off x="4556069" y="1504950"/>
            <a:ext cx="1403462" cy="1459264"/>
            <a:chOff x="5291138" y="457200"/>
            <a:chExt cx="2936874" cy="3053645"/>
          </a:xfrm>
        </p:grpSpPr>
        <p:pic>
          <p:nvPicPr>
            <p:cNvPr id="46" name="Picture 45" descr="3-methylphenyl_methyl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5291138" y="457200"/>
              <a:ext cx="29035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Rectangle 46"/>
            <p:cNvSpPr/>
            <p:nvPr/>
          </p:nvSpPr>
          <p:spPr>
            <a:xfrm>
              <a:off x="5324475" y="3167944"/>
              <a:ext cx="290353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3-methylphenyl_methyl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8" name="Group 47"/>
          <p:cNvGrpSpPr>
            <a:grpSpLocks noGrp="1" noUngrp="1" noChangeAspect="1"/>
          </p:cNvGrpSpPr>
          <p:nvPr/>
        </p:nvGrpSpPr>
        <p:grpSpPr>
          <a:xfrm>
            <a:off x="6008688" y="1504950"/>
            <a:ext cx="1470024" cy="1454474"/>
            <a:chOff x="827088" y="3543300"/>
            <a:chExt cx="3168790" cy="3135271"/>
          </a:xfrm>
        </p:grpSpPr>
        <p:pic>
          <p:nvPicPr>
            <p:cNvPr id="49" name="Picture 48" descr="3-nitrophenyl_methyl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827088" y="3543300"/>
              <a:ext cx="31448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851041" y="6335670"/>
              <a:ext cx="314483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25000" lnSpcReduction="20000"/>
            </a:bodyPr>
            <a:lstStyle/>
            <a:p>
              <a:pPr algn="ctr"/>
              <a:r>
                <a:rPr lang="en-US" sz="4800" dirty="0" smtClean="0">
                  <a:latin typeface="Times New Roman" pitchFamily="18" charset="0"/>
                  <a:cs typeface="Times New Roman" pitchFamily="18" charset="0"/>
                </a:rPr>
                <a:t>3-nitrophenyl_methyl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50"/>
          <p:cNvGrpSpPr>
            <a:grpSpLocks noGrp="1" noUngrp="1" noChangeAspect="1"/>
          </p:cNvGrpSpPr>
          <p:nvPr/>
        </p:nvGrpSpPr>
        <p:grpSpPr>
          <a:xfrm>
            <a:off x="7620000" y="1504950"/>
            <a:ext cx="1371600" cy="1371600"/>
            <a:chOff x="5308600" y="3543300"/>
            <a:chExt cx="2870200" cy="2870200"/>
          </a:xfrm>
        </p:grpSpPr>
        <p:pic>
          <p:nvPicPr>
            <p:cNvPr id="52" name="Picture 51" descr="4-nitrophenyl_methyl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5308600" y="3543300"/>
              <a:ext cx="28702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Rectangle 52"/>
            <p:cNvSpPr/>
            <p:nvPr/>
          </p:nvSpPr>
          <p:spPr>
            <a:xfrm>
              <a:off x="5308600" y="6070600"/>
              <a:ext cx="2870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4-nitrophenyl_methyl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4" name="Group 53"/>
          <p:cNvGrpSpPr>
            <a:grpSpLocks noGrp="1" noUngrp="1" noChangeAspect="1"/>
          </p:cNvGrpSpPr>
          <p:nvPr/>
        </p:nvGrpSpPr>
        <p:grpSpPr>
          <a:xfrm>
            <a:off x="2514600" y="3486150"/>
            <a:ext cx="2371241" cy="1340603"/>
            <a:chOff x="342900" y="768350"/>
            <a:chExt cx="4114800" cy="2326340"/>
          </a:xfrm>
        </p:grpSpPr>
        <p:pic>
          <p:nvPicPr>
            <p:cNvPr id="55" name="Picture 54" descr="Nbutyl_4methylbenzenesulfonamido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342900" y="768350"/>
              <a:ext cx="4114800" cy="189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Rectangle 55"/>
            <p:cNvSpPr/>
            <p:nvPr/>
          </p:nvSpPr>
          <p:spPr>
            <a:xfrm>
              <a:off x="342900" y="2751791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Nbutyl_4methylbenzenesulfonamido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7" name="Group 56"/>
          <p:cNvGrpSpPr>
            <a:grpSpLocks noGrp="1" noUngrp="1" noChangeAspect="1"/>
          </p:cNvGrpSpPr>
          <p:nvPr/>
        </p:nvGrpSpPr>
        <p:grpSpPr>
          <a:xfrm>
            <a:off x="76200" y="3638550"/>
            <a:ext cx="2438401" cy="1254949"/>
            <a:chOff x="4686300" y="833438"/>
            <a:chExt cx="4114800" cy="2117725"/>
          </a:xfrm>
        </p:grpSpPr>
        <p:pic>
          <p:nvPicPr>
            <p:cNvPr id="58" name="Picture 57" descr="Nbutyltrifluoromethanesulfonamido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4686300" y="833438"/>
              <a:ext cx="4114800" cy="17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Rectangle 58"/>
            <p:cNvSpPr/>
            <p:nvPr/>
          </p:nvSpPr>
          <p:spPr>
            <a:xfrm>
              <a:off x="4686300" y="260826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Nbutyltrifluoromethanesulfonamido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0" name="Group 59"/>
          <p:cNvGrpSpPr>
            <a:grpSpLocks noGrp="1" noUngrp="1" noChangeAspect="1"/>
          </p:cNvGrpSpPr>
          <p:nvPr/>
        </p:nvGrpSpPr>
        <p:grpSpPr>
          <a:xfrm>
            <a:off x="6858000" y="3181350"/>
            <a:ext cx="2209800" cy="1625600"/>
            <a:chOff x="195943" y="474663"/>
            <a:chExt cx="4261757" cy="3135085"/>
          </a:xfrm>
        </p:grpSpPr>
        <p:pic>
          <p:nvPicPr>
            <p:cNvPr id="61" name="Picture 60" descr="1-_dimethylamino_-2-_4-chlorophenyl_propan-2-yl.jpg"/>
            <p:cNvPicPr>
              <a:picLocks noRot="1" noChangeAspect="1" noMove="1" noResize="1"/>
            </p:cNvPicPr>
            <p:nvPr isPhoto="1"/>
          </p:nvPicPr>
          <p:blipFill>
            <a:blip r:embed="rId15" cstate="print">
              <a:lum/>
            </a:blip>
            <a:stretch>
              <a:fillRect/>
            </a:stretch>
          </p:blipFill>
          <p:spPr>
            <a:xfrm>
              <a:off x="342900" y="474663"/>
              <a:ext cx="4114800" cy="2479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195943" y="326684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1-_dimethylamino_-2-_4-chlorophenyl_propan-2-yl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9" name="Group 68"/>
          <p:cNvGrpSpPr>
            <a:grpSpLocks noGrp="1" noUngrp="1" noChangeAspect="1"/>
          </p:cNvGrpSpPr>
          <p:nvPr/>
        </p:nvGrpSpPr>
        <p:grpSpPr>
          <a:xfrm>
            <a:off x="4953000" y="3105150"/>
            <a:ext cx="1947293" cy="1719726"/>
            <a:chOff x="693738" y="3543300"/>
            <a:chExt cx="3411537" cy="3012853"/>
          </a:xfrm>
        </p:grpSpPr>
        <p:pic>
          <p:nvPicPr>
            <p:cNvPr id="70" name="Picture 69" descr="1-_dimethylamino_-2-phenylpropan-2-yl.jpg"/>
            <p:cNvPicPr>
              <a:picLocks noRot="1" noChangeAspect="1" noMove="1" noResize="1"/>
            </p:cNvPicPr>
            <p:nvPr isPhoto="1"/>
          </p:nvPicPr>
          <p:blipFill>
            <a:blip r:embed="rId16" cstate="print">
              <a:lum/>
            </a:blip>
            <a:stretch>
              <a:fillRect/>
            </a:stretch>
          </p:blipFill>
          <p:spPr>
            <a:xfrm>
              <a:off x="693738" y="3543300"/>
              <a:ext cx="34115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Rectangle 70"/>
            <p:cNvSpPr/>
            <p:nvPr/>
          </p:nvSpPr>
          <p:spPr>
            <a:xfrm>
              <a:off x="693738" y="6213253"/>
              <a:ext cx="34115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1-_dimethylamino_-2-phenylpropan-2-yl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>
            <a:grpSpLocks noGrp="1" noUngrp="1" noChangeAspect="1"/>
          </p:cNvGrpSpPr>
          <p:nvPr/>
        </p:nvGrpSpPr>
        <p:grpSpPr>
          <a:xfrm>
            <a:off x="0" y="73533"/>
            <a:ext cx="1981200" cy="1440923"/>
            <a:chOff x="4586087" y="457200"/>
            <a:chExt cx="4195963" cy="3051716"/>
          </a:xfrm>
        </p:grpSpPr>
        <p:pic>
          <p:nvPicPr>
            <p:cNvPr id="22" name="Picture 21" descr="1-_dimethylamino_-2-_4-fluorophenyl_propan-2-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4703763" y="457200"/>
              <a:ext cx="407828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>
              <a:off x="4586087" y="3166017"/>
              <a:ext cx="4078287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1-_dimethylamino_-2-_4-fluorophenyl_propan-2-yl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23"/>
          <p:cNvGrpSpPr>
            <a:grpSpLocks noGrp="1" noUngrp="1" noChangeAspect="1"/>
          </p:cNvGrpSpPr>
          <p:nvPr/>
        </p:nvGrpSpPr>
        <p:grpSpPr>
          <a:xfrm>
            <a:off x="2057400" y="133350"/>
            <a:ext cx="1219200" cy="1447799"/>
            <a:chOff x="1263650" y="457200"/>
            <a:chExt cx="2521207" cy="2993932"/>
          </a:xfrm>
        </p:grpSpPr>
        <p:pic>
          <p:nvPicPr>
            <p:cNvPr id="25" name="Picture 24" descr="3-chlorophenyl_methy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1263650" y="457200"/>
              <a:ext cx="22717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Rectangle 25"/>
            <p:cNvSpPr/>
            <p:nvPr/>
          </p:nvSpPr>
          <p:spPr>
            <a:xfrm>
              <a:off x="1263650" y="3135983"/>
              <a:ext cx="2521207" cy="31514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3-chlorophenyl_methyl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" name="Group 26"/>
          <p:cNvGrpSpPr>
            <a:grpSpLocks noGrp="1" noUngrp="1" noChangeAspect="1"/>
          </p:cNvGrpSpPr>
          <p:nvPr/>
        </p:nvGrpSpPr>
        <p:grpSpPr>
          <a:xfrm>
            <a:off x="3228595" y="209550"/>
            <a:ext cx="1391410" cy="1450160"/>
            <a:chOff x="5254625" y="457200"/>
            <a:chExt cx="3082927" cy="3213100"/>
          </a:xfrm>
        </p:grpSpPr>
        <p:pic>
          <p:nvPicPr>
            <p:cNvPr id="28" name="Picture 27" descr="3-methoxyphenyl_meth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5254625" y="457200"/>
              <a:ext cx="29765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Rectangle 28"/>
            <p:cNvSpPr/>
            <p:nvPr/>
          </p:nvSpPr>
          <p:spPr>
            <a:xfrm>
              <a:off x="5360989" y="3327400"/>
              <a:ext cx="29765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3-methoxyphenyl_methyl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Group 29"/>
          <p:cNvGrpSpPr>
            <a:grpSpLocks noGrp="1" noUngrp="1" noChangeAspect="1"/>
          </p:cNvGrpSpPr>
          <p:nvPr/>
        </p:nvGrpSpPr>
        <p:grpSpPr>
          <a:xfrm>
            <a:off x="4648200" y="103851"/>
            <a:ext cx="1570037" cy="1416087"/>
            <a:chOff x="792163" y="3543300"/>
            <a:chExt cx="3216275" cy="2900903"/>
          </a:xfrm>
        </p:grpSpPr>
        <p:pic>
          <p:nvPicPr>
            <p:cNvPr id="31" name="Picture 30" descr="3-methylphenyl_meth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792163" y="3543300"/>
              <a:ext cx="32162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Rectangle 31"/>
            <p:cNvSpPr/>
            <p:nvPr/>
          </p:nvSpPr>
          <p:spPr>
            <a:xfrm>
              <a:off x="792163" y="6101303"/>
              <a:ext cx="32162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3-methylphenyl_methyl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3" name="Group 32"/>
          <p:cNvGrpSpPr>
            <a:grpSpLocks noGrp="1" noUngrp="1" noChangeAspect="1"/>
          </p:cNvGrpSpPr>
          <p:nvPr/>
        </p:nvGrpSpPr>
        <p:grpSpPr>
          <a:xfrm>
            <a:off x="6246113" y="152400"/>
            <a:ext cx="1528574" cy="1523241"/>
            <a:chOff x="5286375" y="3543300"/>
            <a:chExt cx="3070735" cy="3060022"/>
          </a:xfrm>
        </p:grpSpPr>
        <p:pic>
          <p:nvPicPr>
            <p:cNvPr id="34" name="Picture 33" descr="3-trifluoromethyl_phenyl_meth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5286375" y="3543300"/>
              <a:ext cx="29130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Rectangle 34"/>
            <p:cNvSpPr/>
            <p:nvPr/>
          </p:nvSpPr>
          <p:spPr>
            <a:xfrm>
              <a:off x="5444047" y="6260423"/>
              <a:ext cx="2913063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3-trifluoromethyl_phenyl_methyl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" name="Group 35"/>
          <p:cNvGrpSpPr>
            <a:grpSpLocks noGrp="1" noUngrp="1" noChangeAspect="1"/>
          </p:cNvGrpSpPr>
          <p:nvPr/>
        </p:nvGrpSpPr>
        <p:grpSpPr>
          <a:xfrm>
            <a:off x="7772400" y="285750"/>
            <a:ext cx="1371600" cy="1364857"/>
            <a:chOff x="5178425" y="457200"/>
            <a:chExt cx="3228975" cy="3213101"/>
          </a:xfrm>
        </p:grpSpPr>
        <p:pic>
          <p:nvPicPr>
            <p:cNvPr id="37" name="Picture 36" descr="34-dichlorophenyl_meth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5178425" y="457200"/>
              <a:ext cx="31289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Rectangle 37"/>
            <p:cNvSpPr/>
            <p:nvPr/>
          </p:nvSpPr>
          <p:spPr>
            <a:xfrm>
              <a:off x="5278437" y="3327400"/>
              <a:ext cx="3128963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34-dichlorophenyl_methyl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Group 38"/>
          <p:cNvGrpSpPr>
            <a:grpSpLocks noGrp="1" noUngrp="1" noChangeAspect="1"/>
          </p:cNvGrpSpPr>
          <p:nvPr/>
        </p:nvGrpSpPr>
        <p:grpSpPr>
          <a:xfrm>
            <a:off x="2667000" y="1885950"/>
            <a:ext cx="1884433" cy="1371600"/>
            <a:chOff x="428625" y="457200"/>
            <a:chExt cx="3943350" cy="2870200"/>
          </a:xfrm>
        </p:grpSpPr>
        <p:pic>
          <p:nvPicPr>
            <p:cNvPr id="40" name="Picture 39" descr="4-tert-butylphenyl_methyl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428625" y="457200"/>
              <a:ext cx="39433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Rectangle 40"/>
            <p:cNvSpPr/>
            <p:nvPr/>
          </p:nvSpPr>
          <p:spPr>
            <a:xfrm>
              <a:off x="428625" y="2984500"/>
              <a:ext cx="39433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4-tert-butylphenyl_methyl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2" name="Group 41"/>
          <p:cNvGrpSpPr>
            <a:grpSpLocks noGrp="1" noUngrp="1" noChangeAspect="1"/>
          </p:cNvGrpSpPr>
          <p:nvPr/>
        </p:nvGrpSpPr>
        <p:grpSpPr>
          <a:xfrm>
            <a:off x="0" y="1885950"/>
            <a:ext cx="1371600" cy="1535464"/>
            <a:chOff x="844550" y="3543300"/>
            <a:chExt cx="2870200" cy="3213101"/>
          </a:xfrm>
        </p:grpSpPr>
        <p:pic>
          <p:nvPicPr>
            <p:cNvPr id="43" name="Picture 42" descr="35-bis_trifluoromethyl_phenyl_methyl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1084263" y="3543300"/>
              <a:ext cx="263048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Rectangle 43"/>
            <p:cNvSpPr/>
            <p:nvPr/>
          </p:nvSpPr>
          <p:spPr>
            <a:xfrm>
              <a:off x="844550" y="6413500"/>
              <a:ext cx="2630487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35-bis_trifluoromethyl_phenyl_methyl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Group 44"/>
          <p:cNvGrpSpPr>
            <a:grpSpLocks noGrp="1" noUngrp="1" noChangeAspect="1"/>
          </p:cNvGrpSpPr>
          <p:nvPr/>
        </p:nvGrpSpPr>
        <p:grpSpPr>
          <a:xfrm>
            <a:off x="1371600" y="1885951"/>
            <a:ext cx="990600" cy="1523999"/>
            <a:chOff x="5600697" y="3543300"/>
            <a:chExt cx="2610647" cy="4016375"/>
          </a:xfrm>
        </p:grpSpPr>
        <p:pic>
          <p:nvPicPr>
            <p:cNvPr id="46" name="Picture 45" descr="35-dichlorophenyl_methyl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5600700" y="3543300"/>
              <a:ext cx="22860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Rectangle 46"/>
            <p:cNvSpPr/>
            <p:nvPr/>
          </p:nvSpPr>
          <p:spPr>
            <a:xfrm>
              <a:off x="5600697" y="6756399"/>
              <a:ext cx="2610647" cy="803276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35-dichlorophenyl_methyl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8" name="Group 47"/>
          <p:cNvGrpSpPr>
            <a:grpSpLocks noGrp="1" noUngrp="1" noChangeAspect="1"/>
          </p:cNvGrpSpPr>
          <p:nvPr/>
        </p:nvGrpSpPr>
        <p:grpSpPr>
          <a:xfrm>
            <a:off x="4572000" y="1962150"/>
            <a:ext cx="1600200" cy="1220743"/>
            <a:chOff x="519113" y="457200"/>
            <a:chExt cx="3762375" cy="2870200"/>
          </a:xfrm>
        </p:grpSpPr>
        <p:pic>
          <p:nvPicPr>
            <p:cNvPr id="49" name="Picture 48" descr="1-ethenyl_5-oxopyrrolidin-2-yl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519113" y="457200"/>
              <a:ext cx="37623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519113" y="2984500"/>
              <a:ext cx="3762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1-ethenyl_5-oxopyrrolidin-2-yl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50"/>
          <p:cNvGrpSpPr>
            <a:grpSpLocks noGrp="1" noUngrp="1" noChangeAspect="1"/>
          </p:cNvGrpSpPr>
          <p:nvPr/>
        </p:nvGrpSpPr>
        <p:grpSpPr>
          <a:xfrm>
            <a:off x="6324600" y="2038350"/>
            <a:ext cx="1288657" cy="1066800"/>
            <a:chOff x="5010150" y="457200"/>
            <a:chExt cx="3467100" cy="2870200"/>
          </a:xfrm>
        </p:grpSpPr>
        <p:pic>
          <p:nvPicPr>
            <p:cNvPr id="52" name="Picture 51" descr="1-ethenyl_5-oxopyrrolidin-3-yl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5010150" y="457200"/>
              <a:ext cx="34671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Rectangle 52"/>
            <p:cNvSpPr/>
            <p:nvPr/>
          </p:nvSpPr>
          <p:spPr>
            <a:xfrm>
              <a:off x="5010150" y="2984500"/>
              <a:ext cx="3467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1-ethenyl_5-oxopyrrolidin-3-yl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4" name="Group 53"/>
          <p:cNvGrpSpPr>
            <a:grpSpLocks noGrp="1" noUngrp="1" noChangeAspect="1"/>
          </p:cNvGrpSpPr>
          <p:nvPr/>
        </p:nvGrpSpPr>
        <p:grpSpPr>
          <a:xfrm>
            <a:off x="7624806" y="1809750"/>
            <a:ext cx="1367048" cy="1371600"/>
            <a:chOff x="969963" y="3543300"/>
            <a:chExt cx="2860675" cy="2870200"/>
          </a:xfrm>
        </p:grpSpPr>
        <p:pic>
          <p:nvPicPr>
            <p:cNvPr id="55" name="Picture 54" descr="dimethoxymethoxy_methyl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969963" y="3543300"/>
              <a:ext cx="28606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Rectangle 55"/>
            <p:cNvSpPr/>
            <p:nvPr/>
          </p:nvSpPr>
          <p:spPr>
            <a:xfrm>
              <a:off x="969963" y="6070600"/>
              <a:ext cx="28606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dimethoxymethoxy_methyl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7" name="Group 56"/>
          <p:cNvGrpSpPr>
            <a:grpSpLocks noGrp="1" noUngrp="1" noChangeAspect="1"/>
          </p:cNvGrpSpPr>
          <p:nvPr/>
        </p:nvGrpSpPr>
        <p:grpSpPr>
          <a:xfrm>
            <a:off x="152400" y="3638550"/>
            <a:ext cx="1809750" cy="1248392"/>
            <a:chOff x="342900" y="473075"/>
            <a:chExt cx="4114800" cy="2838450"/>
          </a:xfrm>
        </p:grpSpPr>
        <p:pic>
          <p:nvPicPr>
            <p:cNvPr id="58" name="Picture 57" descr="1-_1_1biphenyl_-4-yl_-2-_tert-butoxy_ethyl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342900" y="473075"/>
              <a:ext cx="4114800" cy="2482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Rectangle 58"/>
            <p:cNvSpPr/>
            <p:nvPr/>
          </p:nvSpPr>
          <p:spPr>
            <a:xfrm>
              <a:off x="342900" y="296862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1-_1_1biphenyl_-4-yl_-2-_tert-butoxy_ethyl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0" name="Group 59"/>
          <p:cNvGrpSpPr>
            <a:grpSpLocks noGrp="1" noUngrp="1" noChangeAspect="1"/>
          </p:cNvGrpSpPr>
          <p:nvPr/>
        </p:nvGrpSpPr>
        <p:grpSpPr>
          <a:xfrm>
            <a:off x="6477000" y="3333750"/>
            <a:ext cx="2438400" cy="1458148"/>
            <a:chOff x="4686300" y="661988"/>
            <a:chExt cx="4114800" cy="2460625"/>
          </a:xfrm>
        </p:grpSpPr>
        <p:pic>
          <p:nvPicPr>
            <p:cNvPr id="61" name="Picture 60" descr="2-_tert-butoxy_-1-_4-chlorophenyl_ethyl.jpg"/>
            <p:cNvPicPr>
              <a:picLocks noRot="1" noChangeAspect="1" noMove="1" noResize="1"/>
            </p:cNvPicPr>
            <p:nvPr isPhoto="1"/>
          </p:nvPicPr>
          <p:blipFill>
            <a:blip r:embed="rId15" cstate="print">
              <a:lum/>
            </a:blip>
            <a:stretch>
              <a:fillRect/>
            </a:stretch>
          </p:blipFill>
          <p:spPr>
            <a:xfrm>
              <a:off x="4686300" y="661988"/>
              <a:ext cx="4114800" cy="2105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4686300" y="277971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2-_tert-butoxy_-1-_4-chlorophenyl_ethyl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9" name="Group 68"/>
          <p:cNvGrpSpPr>
            <a:grpSpLocks noGrp="1" noUngrp="1" noChangeAspect="1"/>
          </p:cNvGrpSpPr>
          <p:nvPr/>
        </p:nvGrpSpPr>
        <p:grpSpPr>
          <a:xfrm>
            <a:off x="2209800" y="3486150"/>
            <a:ext cx="2057400" cy="1385093"/>
            <a:chOff x="4686300" y="506413"/>
            <a:chExt cx="4114800" cy="2770187"/>
          </a:xfrm>
        </p:grpSpPr>
        <p:pic>
          <p:nvPicPr>
            <p:cNvPr id="70" name="Picture 69" descr="2-_tert-butoxy_-1-4-_methoxycarbonyl_phenyl_ethyl.jpg"/>
            <p:cNvPicPr>
              <a:picLocks noRot="1" noChangeAspect="1" noMove="1" noResize="1"/>
            </p:cNvPicPr>
            <p:nvPr isPhoto="1"/>
          </p:nvPicPr>
          <p:blipFill>
            <a:blip r:embed="rId16" cstate="print">
              <a:lum/>
            </a:blip>
            <a:stretch>
              <a:fillRect/>
            </a:stretch>
          </p:blipFill>
          <p:spPr>
            <a:xfrm>
              <a:off x="4686300" y="506413"/>
              <a:ext cx="4114800" cy="2414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Rectangle 70"/>
            <p:cNvSpPr/>
            <p:nvPr/>
          </p:nvSpPr>
          <p:spPr>
            <a:xfrm>
              <a:off x="4686300" y="293370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2-_tert-butoxy_-1-4-_methoxycarbonyl_phenyl_ethyl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2" name="Group 71"/>
          <p:cNvGrpSpPr>
            <a:grpSpLocks noGrp="1" noUngrp="1" noChangeAspect="1"/>
          </p:cNvGrpSpPr>
          <p:nvPr/>
        </p:nvGrpSpPr>
        <p:grpSpPr>
          <a:xfrm>
            <a:off x="4572000" y="3257550"/>
            <a:ext cx="1524000" cy="1596404"/>
            <a:chOff x="1030288" y="3543300"/>
            <a:chExt cx="2740025" cy="2870200"/>
          </a:xfrm>
        </p:grpSpPr>
        <p:pic>
          <p:nvPicPr>
            <p:cNvPr id="73" name="Picture 72" descr="2-_tert-butoxy_-1-phenylethyl.jpg"/>
            <p:cNvPicPr>
              <a:picLocks noRot="1" noChangeAspect="1" noMove="1" noResize="1"/>
            </p:cNvPicPr>
            <p:nvPr isPhoto="1"/>
          </p:nvPicPr>
          <p:blipFill>
            <a:blip r:embed="rId17" cstate="print">
              <a:lum/>
            </a:blip>
            <a:stretch>
              <a:fillRect/>
            </a:stretch>
          </p:blipFill>
          <p:spPr>
            <a:xfrm>
              <a:off x="1030288" y="3543300"/>
              <a:ext cx="27400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Rectangle 73"/>
            <p:cNvSpPr/>
            <p:nvPr/>
          </p:nvSpPr>
          <p:spPr>
            <a:xfrm>
              <a:off x="1030288" y="6070600"/>
              <a:ext cx="27400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2-_tert-butoxy_-1-phenylethyl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Grp="1" noUngrp="1" noChangeAspect="1"/>
          </p:cNvGrpSpPr>
          <p:nvPr/>
        </p:nvGrpSpPr>
        <p:grpSpPr>
          <a:xfrm>
            <a:off x="0" y="19756"/>
            <a:ext cx="1905000" cy="1104194"/>
            <a:chOff x="171450" y="3821113"/>
            <a:chExt cx="4286250" cy="2484437"/>
          </a:xfrm>
        </p:grpSpPr>
        <p:pic>
          <p:nvPicPr>
            <p:cNvPr id="4" name="Picture 3" descr="2-_tert-butoxy_-1-_4-fluorophenyl_propan-2-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342900" y="3821113"/>
              <a:ext cx="4114800" cy="19573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/>
            <p:cNvSpPr/>
            <p:nvPr/>
          </p:nvSpPr>
          <p:spPr>
            <a:xfrm>
              <a:off x="171450" y="5962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2-_tert-butoxy_-1-_4-fluorophenyl_propan-2-yl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5"/>
          <p:cNvGrpSpPr>
            <a:grpSpLocks noGrp="1" noUngrp="1" noChangeAspect="1"/>
          </p:cNvGrpSpPr>
          <p:nvPr/>
        </p:nvGrpSpPr>
        <p:grpSpPr>
          <a:xfrm>
            <a:off x="1981200" y="57150"/>
            <a:ext cx="1934146" cy="1380379"/>
            <a:chOff x="4686300" y="3600450"/>
            <a:chExt cx="4114800" cy="2936688"/>
          </a:xfrm>
        </p:grpSpPr>
        <p:pic>
          <p:nvPicPr>
            <p:cNvPr id="7" name="Picture 6" descr="2-_tert-butoxy_-1-_4-methoxyphenyl_ethy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4686300" y="3600450"/>
              <a:ext cx="4114800" cy="24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4686300" y="619423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2-_tert-butoxy_-1-_4-methoxyphenyl_ethyl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8"/>
          <p:cNvGrpSpPr>
            <a:grpSpLocks noGrp="1" noUngrp="1" noChangeAspect="1"/>
          </p:cNvGrpSpPr>
          <p:nvPr/>
        </p:nvGrpSpPr>
        <p:grpSpPr>
          <a:xfrm>
            <a:off x="3962400" y="57150"/>
            <a:ext cx="1981200" cy="1155700"/>
            <a:chOff x="342900" y="787400"/>
            <a:chExt cx="4114800" cy="2400299"/>
          </a:xfrm>
        </p:grpSpPr>
        <p:pic>
          <p:nvPicPr>
            <p:cNvPr id="10" name="Picture 9" descr="2-_tert-butoxy_-1-_4-nitrophenyl_eth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342900" y="787400"/>
              <a:ext cx="4114800" cy="18526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342900" y="2844799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2-_tert-butoxy_-1-_4-nitrophenyl_ethyl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Group 11"/>
          <p:cNvGrpSpPr>
            <a:grpSpLocks noGrp="1" noUngrp="1" noChangeAspect="1"/>
          </p:cNvGrpSpPr>
          <p:nvPr/>
        </p:nvGrpSpPr>
        <p:grpSpPr>
          <a:xfrm>
            <a:off x="6248400" y="133350"/>
            <a:ext cx="2105070" cy="1054478"/>
            <a:chOff x="342900" y="773113"/>
            <a:chExt cx="4269343" cy="2581274"/>
          </a:xfrm>
        </p:grpSpPr>
        <p:pic>
          <p:nvPicPr>
            <p:cNvPr id="13" name="Picture 12" descr="1-_acetoxy_pent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342900" y="773113"/>
              <a:ext cx="4114800" cy="188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497443" y="3011488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1-_acetoxy_pentyl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Group 14"/>
          <p:cNvGrpSpPr>
            <a:grpSpLocks noGrp="1" noUngrp="1" noChangeAspect="1"/>
          </p:cNvGrpSpPr>
          <p:nvPr/>
        </p:nvGrpSpPr>
        <p:grpSpPr>
          <a:xfrm>
            <a:off x="3962400" y="1809750"/>
            <a:ext cx="1981200" cy="1114425"/>
            <a:chOff x="4686300" y="561975"/>
            <a:chExt cx="4114800" cy="3086101"/>
          </a:xfrm>
        </p:grpSpPr>
        <p:pic>
          <p:nvPicPr>
            <p:cNvPr id="16" name="Picture 15" descr="1-_acetyloxy_-2-_4-fluorophenyl_eth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4686300" y="561975"/>
              <a:ext cx="4114800" cy="2305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4686300" y="3305176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1-_acetyloxy_-2-_4-fluorophenyl_ethyl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" name="Group 17"/>
          <p:cNvGrpSpPr>
            <a:grpSpLocks noGrp="1" noUngrp="1" noChangeAspect="1"/>
          </p:cNvGrpSpPr>
          <p:nvPr/>
        </p:nvGrpSpPr>
        <p:grpSpPr>
          <a:xfrm>
            <a:off x="0" y="1809750"/>
            <a:ext cx="1524000" cy="1036416"/>
            <a:chOff x="17718" y="3719513"/>
            <a:chExt cx="4439982" cy="2912623"/>
          </a:xfrm>
        </p:grpSpPr>
        <p:pic>
          <p:nvPicPr>
            <p:cNvPr id="19" name="Picture 18" descr="1-_acetyloxy_-2-methylprop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342900" y="3719513"/>
              <a:ext cx="4114800" cy="2160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17718" y="6289236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1-_acetyloxy_-2-methylpropyl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" name="Group 20"/>
          <p:cNvGrpSpPr>
            <a:grpSpLocks noGrp="1" noUngrp="1" noChangeAspect="1"/>
          </p:cNvGrpSpPr>
          <p:nvPr/>
        </p:nvGrpSpPr>
        <p:grpSpPr>
          <a:xfrm>
            <a:off x="1828800" y="1733550"/>
            <a:ext cx="1957191" cy="1047750"/>
            <a:chOff x="4732338" y="3543300"/>
            <a:chExt cx="4021137" cy="2870200"/>
          </a:xfrm>
        </p:grpSpPr>
        <p:pic>
          <p:nvPicPr>
            <p:cNvPr id="22" name="Picture 21" descr="1-_acetyloxy_-2-phenylethyl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4732338" y="3543300"/>
              <a:ext cx="40211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>
              <a:off x="4732338" y="6070600"/>
              <a:ext cx="40211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1-_acetyloxy_-2-phenylethyl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23"/>
          <p:cNvGrpSpPr>
            <a:grpSpLocks noGrp="1" noUngrp="1" noChangeAspect="1"/>
          </p:cNvGrpSpPr>
          <p:nvPr/>
        </p:nvGrpSpPr>
        <p:grpSpPr>
          <a:xfrm>
            <a:off x="6096000" y="1962150"/>
            <a:ext cx="1265025" cy="853816"/>
            <a:chOff x="342900" y="517525"/>
            <a:chExt cx="4114800" cy="3188687"/>
          </a:xfrm>
        </p:grpSpPr>
        <p:pic>
          <p:nvPicPr>
            <p:cNvPr id="25" name="Picture 24" descr="1-_sodiooxy_pentyl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342900" y="517525"/>
              <a:ext cx="4114800" cy="23923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Rectangle 25"/>
            <p:cNvSpPr/>
            <p:nvPr/>
          </p:nvSpPr>
          <p:spPr>
            <a:xfrm>
              <a:off x="342900" y="3363313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1-_sodiooxy_pentyl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" name="Group 26"/>
          <p:cNvGrpSpPr>
            <a:grpSpLocks noGrp="1" noUngrp="1" noChangeAspect="1"/>
          </p:cNvGrpSpPr>
          <p:nvPr/>
        </p:nvGrpSpPr>
        <p:grpSpPr>
          <a:xfrm>
            <a:off x="1752600" y="3490144"/>
            <a:ext cx="1142999" cy="1117350"/>
            <a:chOff x="5228429" y="457200"/>
            <a:chExt cx="2839639" cy="3701225"/>
          </a:xfrm>
        </p:grpSpPr>
        <p:pic>
          <p:nvPicPr>
            <p:cNvPr id="28" name="Picture 27" descr="2-chloro-2-methylpropan-1-yl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5607050" y="457200"/>
              <a:ext cx="22717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Rectangle 28"/>
            <p:cNvSpPr/>
            <p:nvPr/>
          </p:nvSpPr>
          <p:spPr>
            <a:xfrm>
              <a:off x="5228429" y="3725335"/>
              <a:ext cx="2839639" cy="43309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2-chloro-2-methylpropan-1-yl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Group 29"/>
          <p:cNvGrpSpPr>
            <a:grpSpLocks noGrp="1" noUngrp="1" noChangeAspect="1"/>
          </p:cNvGrpSpPr>
          <p:nvPr/>
        </p:nvGrpSpPr>
        <p:grpSpPr>
          <a:xfrm>
            <a:off x="3276600" y="3257550"/>
            <a:ext cx="1143000" cy="1081905"/>
            <a:chOff x="790575" y="3543300"/>
            <a:chExt cx="3219450" cy="4063156"/>
          </a:xfrm>
        </p:grpSpPr>
        <p:pic>
          <p:nvPicPr>
            <p:cNvPr id="31" name="Picture 30" descr="2-chloroethyl_oxidanyl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790575" y="3543300"/>
              <a:ext cx="32194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Rectangle 31"/>
            <p:cNvSpPr/>
            <p:nvPr/>
          </p:nvSpPr>
          <p:spPr>
            <a:xfrm>
              <a:off x="790575" y="7263555"/>
              <a:ext cx="321945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2-chloroethyl_oxidanyl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3" name="Group 32"/>
          <p:cNvGrpSpPr>
            <a:grpSpLocks noGrp="1" noUngrp="1" noChangeAspect="1"/>
          </p:cNvGrpSpPr>
          <p:nvPr/>
        </p:nvGrpSpPr>
        <p:grpSpPr>
          <a:xfrm>
            <a:off x="4724400" y="3409950"/>
            <a:ext cx="830333" cy="987228"/>
            <a:chOff x="5276850" y="3543300"/>
            <a:chExt cx="2932113" cy="4648199"/>
          </a:xfrm>
        </p:grpSpPr>
        <p:pic>
          <p:nvPicPr>
            <p:cNvPr id="34" name="Picture 33" descr="2-fluoroethyl_oxidanyl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5276850" y="3543300"/>
              <a:ext cx="29321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Rectangle 34"/>
            <p:cNvSpPr/>
            <p:nvPr/>
          </p:nvSpPr>
          <p:spPr>
            <a:xfrm>
              <a:off x="5276850" y="7848600"/>
              <a:ext cx="2932113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2-fluoroethyl_oxidanyl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" name="Group 35"/>
          <p:cNvGrpSpPr>
            <a:grpSpLocks noGrp="1" noUngrp="1" noChangeAspect="1"/>
          </p:cNvGrpSpPr>
          <p:nvPr/>
        </p:nvGrpSpPr>
        <p:grpSpPr>
          <a:xfrm>
            <a:off x="7620000" y="2114550"/>
            <a:ext cx="1219200" cy="914620"/>
            <a:chOff x="476250" y="457200"/>
            <a:chExt cx="4102947" cy="4103932"/>
          </a:xfrm>
        </p:grpSpPr>
        <p:pic>
          <p:nvPicPr>
            <p:cNvPr id="37" name="Picture 36" descr="11-difluoropropan-1-yl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476250" y="457200"/>
              <a:ext cx="38465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Rectangle 37"/>
            <p:cNvSpPr/>
            <p:nvPr/>
          </p:nvSpPr>
          <p:spPr>
            <a:xfrm>
              <a:off x="732684" y="4218233"/>
              <a:ext cx="3846513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11-difluoropropan-1-yl</a:t>
              </a:r>
              <a:endParaRPr lang="en-US" sz="1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Group 38"/>
          <p:cNvGrpSpPr>
            <a:grpSpLocks noGrp="1" noUngrp="1" noChangeAspect="1"/>
          </p:cNvGrpSpPr>
          <p:nvPr/>
        </p:nvGrpSpPr>
        <p:grpSpPr>
          <a:xfrm>
            <a:off x="228601" y="3409951"/>
            <a:ext cx="1066799" cy="954395"/>
            <a:chOff x="4843463" y="457200"/>
            <a:chExt cx="3996170" cy="3734951"/>
          </a:xfrm>
        </p:grpSpPr>
        <p:pic>
          <p:nvPicPr>
            <p:cNvPr id="40" name="Picture 39" descr="1122-tetrafluoropropan-1-yl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4843463" y="457200"/>
              <a:ext cx="38004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Rectangle 40"/>
            <p:cNvSpPr/>
            <p:nvPr/>
          </p:nvSpPr>
          <p:spPr>
            <a:xfrm>
              <a:off x="5039158" y="3849251"/>
              <a:ext cx="38004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1122-tetrafluoropropan-1-yl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2" name="Group 41"/>
          <p:cNvGrpSpPr>
            <a:grpSpLocks noGrp="1" noUngrp="1" noChangeAspect="1"/>
          </p:cNvGrpSpPr>
          <p:nvPr/>
        </p:nvGrpSpPr>
        <p:grpSpPr>
          <a:xfrm>
            <a:off x="5715000" y="3562350"/>
            <a:ext cx="1447800" cy="923925"/>
            <a:chOff x="342900" y="522288"/>
            <a:chExt cx="4343400" cy="3695701"/>
          </a:xfrm>
        </p:grpSpPr>
        <p:pic>
          <p:nvPicPr>
            <p:cNvPr id="43" name="Picture 42" descr="2-methoxyethyl_oxidanyl.jpg"/>
            <p:cNvPicPr>
              <a:picLocks noRot="1" noChangeAspect="1" noMove="1" noResize="1"/>
            </p:cNvPicPr>
            <p:nvPr isPhoto="1"/>
          </p:nvPicPr>
          <p:blipFill>
            <a:blip r:embed="rId15" cstate="print">
              <a:lum/>
            </a:blip>
            <a:stretch>
              <a:fillRect/>
            </a:stretch>
          </p:blipFill>
          <p:spPr>
            <a:xfrm>
              <a:off x="342900" y="522288"/>
              <a:ext cx="4114800" cy="23828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Rectangle 43"/>
            <p:cNvSpPr/>
            <p:nvPr/>
          </p:nvSpPr>
          <p:spPr>
            <a:xfrm>
              <a:off x="571500" y="3875089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2-methoxyethyl_oxidanyl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Group 44"/>
          <p:cNvGrpSpPr>
            <a:grpSpLocks noGrp="1" noUngrp="1" noChangeAspect="1"/>
          </p:cNvGrpSpPr>
          <p:nvPr/>
        </p:nvGrpSpPr>
        <p:grpSpPr>
          <a:xfrm>
            <a:off x="7467600" y="3409950"/>
            <a:ext cx="1371600" cy="1100873"/>
            <a:chOff x="5143500" y="457200"/>
            <a:chExt cx="3198813" cy="3423239"/>
          </a:xfrm>
        </p:grpSpPr>
        <p:pic>
          <p:nvPicPr>
            <p:cNvPr id="46" name="Picture 45" descr="2-oxo-2-phenylethyl_oxidanyl.jpg"/>
            <p:cNvPicPr>
              <a:picLocks noRot="1" noChangeAspect="1" noMove="1" noResize="1"/>
            </p:cNvPicPr>
            <p:nvPr isPhoto="1"/>
          </p:nvPicPr>
          <p:blipFill>
            <a:blip r:embed="rId16" cstate="print">
              <a:lum/>
            </a:blip>
            <a:stretch>
              <a:fillRect/>
            </a:stretch>
          </p:blipFill>
          <p:spPr>
            <a:xfrm>
              <a:off x="5143500" y="457200"/>
              <a:ext cx="31988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Rectangle 46"/>
            <p:cNvSpPr/>
            <p:nvPr/>
          </p:nvSpPr>
          <p:spPr>
            <a:xfrm>
              <a:off x="5143500" y="3537538"/>
              <a:ext cx="3198813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2-oxo-2-phenylethyl_oxidanyl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4"/>
          <p:cNvGrpSpPr>
            <a:grpSpLocks noGrp="1" noUngrp="1" noChangeAspect="1"/>
          </p:cNvGrpSpPr>
          <p:nvPr/>
        </p:nvGrpSpPr>
        <p:grpSpPr>
          <a:xfrm>
            <a:off x="152400" y="285750"/>
            <a:ext cx="914400" cy="1009054"/>
            <a:chOff x="5500688" y="457200"/>
            <a:chExt cx="2484437" cy="3655486"/>
          </a:xfrm>
        </p:grpSpPr>
        <p:pic>
          <p:nvPicPr>
            <p:cNvPr id="16" name="Picture 15" descr="22-dichloropropan-1-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5500688" y="457200"/>
              <a:ext cx="24844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5500688" y="3769784"/>
              <a:ext cx="2484437" cy="342902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22-dichloropropan-1-yl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Group 17"/>
          <p:cNvGrpSpPr>
            <a:grpSpLocks noGrp="1" noUngrp="1" noChangeAspect="1"/>
          </p:cNvGrpSpPr>
          <p:nvPr/>
        </p:nvGrpSpPr>
        <p:grpSpPr>
          <a:xfrm>
            <a:off x="1295400" y="209550"/>
            <a:ext cx="1143000" cy="1093185"/>
            <a:chOff x="966788" y="3543300"/>
            <a:chExt cx="2865437" cy="3654072"/>
          </a:xfrm>
        </p:grpSpPr>
        <p:pic>
          <p:nvPicPr>
            <p:cNvPr id="19" name="Picture 18" descr="22-difluoropropan-1-y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966788" y="3543300"/>
              <a:ext cx="28654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966788" y="6854472"/>
              <a:ext cx="28654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22-difluoropropan-1-yl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Group 20"/>
          <p:cNvGrpSpPr>
            <a:grpSpLocks noGrp="1" noUngrp="1" noChangeAspect="1"/>
          </p:cNvGrpSpPr>
          <p:nvPr/>
        </p:nvGrpSpPr>
        <p:grpSpPr>
          <a:xfrm>
            <a:off x="2590799" y="133350"/>
            <a:ext cx="1887806" cy="1459264"/>
            <a:chOff x="977900" y="457200"/>
            <a:chExt cx="2962806" cy="3053645"/>
          </a:xfrm>
        </p:grpSpPr>
        <p:pic>
          <p:nvPicPr>
            <p:cNvPr id="22" name="Picture 21" descr="246-trimethylphenyl_methyl_sulfan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977900" y="457200"/>
              <a:ext cx="28432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>
              <a:off x="1097493" y="3167944"/>
              <a:ext cx="2843213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246-trimethylphenyl_methyl_sulfanyl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Group 26"/>
          <p:cNvGrpSpPr>
            <a:grpSpLocks noGrp="1" noUngrp="1" noChangeAspect="1"/>
          </p:cNvGrpSpPr>
          <p:nvPr/>
        </p:nvGrpSpPr>
        <p:grpSpPr>
          <a:xfrm>
            <a:off x="228601" y="1581150"/>
            <a:ext cx="1727706" cy="990600"/>
            <a:chOff x="4865688" y="457200"/>
            <a:chExt cx="3754437" cy="2870200"/>
          </a:xfrm>
        </p:grpSpPr>
        <p:pic>
          <p:nvPicPr>
            <p:cNvPr id="28" name="Picture 27" descr="4-acetylphenyl_oxidan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865688" y="457200"/>
              <a:ext cx="37544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Rectangle 28"/>
            <p:cNvSpPr/>
            <p:nvPr/>
          </p:nvSpPr>
          <p:spPr>
            <a:xfrm>
              <a:off x="4865688" y="2984500"/>
              <a:ext cx="37544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4-acetylphenyl_oxidanyl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" name="Group 29"/>
          <p:cNvGrpSpPr>
            <a:grpSpLocks noGrp="1" noUngrp="1" noChangeAspect="1"/>
          </p:cNvGrpSpPr>
          <p:nvPr/>
        </p:nvGrpSpPr>
        <p:grpSpPr>
          <a:xfrm>
            <a:off x="2057400" y="1657350"/>
            <a:ext cx="1850378" cy="1066800"/>
            <a:chOff x="533400" y="3543300"/>
            <a:chExt cx="3733800" cy="2870200"/>
          </a:xfrm>
        </p:grpSpPr>
        <p:pic>
          <p:nvPicPr>
            <p:cNvPr id="31" name="Picture 30" descr="4-cyanophenyl_oxidan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533400" y="3543300"/>
              <a:ext cx="37338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Rectangle 31"/>
            <p:cNvSpPr/>
            <p:nvPr/>
          </p:nvSpPr>
          <p:spPr>
            <a:xfrm>
              <a:off x="533400" y="6070600"/>
              <a:ext cx="3733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4-cyanophenyl_oxidanyl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" name="Group 32"/>
          <p:cNvGrpSpPr>
            <a:grpSpLocks noGrp="1" noUngrp="1" noChangeAspect="1"/>
          </p:cNvGrpSpPr>
          <p:nvPr/>
        </p:nvGrpSpPr>
        <p:grpSpPr>
          <a:xfrm>
            <a:off x="4114800" y="1657350"/>
            <a:ext cx="1295400" cy="1268812"/>
            <a:chOff x="5419725" y="3543300"/>
            <a:chExt cx="2647950" cy="3458134"/>
          </a:xfrm>
        </p:grpSpPr>
        <p:pic>
          <p:nvPicPr>
            <p:cNvPr id="34" name="Picture 33" descr="4-formyl-2-methoxyphenyl_oxidan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5419725" y="3543300"/>
              <a:ext cx="26479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Rectangle 34"/>
            <p:cNvSpPr/>
            <p:nvPr/>
          </p:nvSpPr>
          <p:spPr>
            <a:xfrm>
              <a:off x="5419725" y="6658535"/>
              <a:ext cx="264795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4-formyl-2-methoxyphenyl_oxidanyl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4" name="Group 35"/>
          <p:cNvGrpSpPr>
            <a:grpSpLocks noGrp="1" noUngrp="1" noChangeAspect="1"/>
          </p:cNvGrpSpPr>
          <p:nvPr/>
        </p:nvGrpSpPr>
        <p:grpSpPr>
          <a:xfrm>
            <a:off x="5638800" y="1733550"/>
            <a:ext cx="1529605" cy="1003942"/>
            <a:chOff x="760413" y="457200"/>
            <a:chExt cx="3279775" cy="2870200"/>
          </a:xfrm>
        </p:grpSpPr>
        <p:pic>
          <p:nvPicPr>
            <p:cNvPr id="37" name="Picture 36" descr="4-formylphenyl_oxidanyl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760413" y="457200"/>
              <a:ext cx="32797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Rectangle 37"/>
            <p:cNvSpPr/>
            <p:nvPr/>
          </p:nvSpPr>
          <p:spPr>
            <a:xfrm>
              <a:off x="760413" y="2984500"/>
              <a:ext cx="32797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4-formylphenyl_oxidanyl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" name="Group 38"/>
          <p:cNvGrpSpPr>
            <a:grpSpLocks noGrp="1" noUngrp="1" noChangeAspect="1"/>
          </p:cNvGrpSpPr>
          <p:nvPr/>
        </p:nvGrpSpPr>
        <p:grpSpPr>
          <a:xfrm>
            <a:off x="7391400" y="1581150"/>
            <a:ext cx="1453406" cy="1085850"/>
            <a:chOff x="5302250" y="457200"/>
            <a:chExt cx="2881313" cy="2870200"/>
          </a:xfrm>
        </p:grpSpPr>
        <p:pic>
          <p:nvPicPr>
            <p:cNvPr id="40" name="Picture 39" descr="4-methylphenyl_oxidanyl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5302250" y="457200"/>
              <a:ext cx="28813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Rectangle 40"/>
            <p:cNvSpPr/>
            <p:nvPr/>
          </p:nvSpPr>
          <p:spPr>
            <a:xfrm>
              <a:off x="5302250" y="2984500"/>
              <a:ext cx="28813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4-methylphenyl_oxidanyl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Group 41"/>
          <p:cNvGrpSpPr>
            <a:grpSpLocks noGrp="1" noUngrp="1" noChangeAspect="1"/>
          </p:cNvGrpSpPr>
          <p:nvPr/>
        </p:nvGrpSpPr>
        <p:grpSpPr>
          <a:xfrm>
            <a:off x="76200" y="3028951"/>
            <a:ext cx="1600200" cy="930876"/>
            <a:chOff x="549275" y="3543300"/>
            <a:chExt cx="3700463" cy="2870200"/>
          </a:xfrm>
        </p:grpSpPr>
        <p:pic>
          <p:nvPicPr>
            <p:cNvPr id="43" name="Picture 42" descr="4-tert-butylphenyl_sulfanyl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549275" y="3543300"/>
              <a:ext cx="37004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Rectangle 43"/>
            <p:cNvSpPr/>
            <p:nvPr/>
          </p:nvSpPr>
          <p:spPr>
            <a:xfrm>
              <a:off x="549275" y="6070600"/>
              <a:ext cx="37004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4-tert-butylphenyl_sulfanyl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3" name="Group 44"/>
          <p:cNvGrpSpPr>
            <a:grpSpLocks noGrp="1" noUngrp="1" noChangeAspect="1"/>
          </p:cNvGrpSpPr>
          <p:nvPr/>
        </p:nvGrpSpPr>
        <p:grpSpPr>
          <a:xfrm>
            <a:off x="3331137" y="3028950"/>
            <a:ext cx="1926663" cy="1085850"/>
            <a:chOff x="490538" y="457200"/>
            <a:chExt cx="3819525" cy="2870200"/>
          </a:xfrm>
        </p:grpSpPr>
        <p:pic>
          <p:nvPicPr>
            <p:cNvPr id="46" name="Picture 45" descr="4-_methoxycarbonyl_phenyl_oxidanyl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490538" y="457200"/>
              <a:ext cx="38195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Rectangle 46"/>
            <p:cNvSpPr/>
            <p:nvPr/>
          </p:nvSpPr>
          <p:spPr>
            <a:xfrm>
              <a:off x="490538" y="2984500"/>
              <a:ext cx="38195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4-_methoxycarbonyl_phenyl_oxidanyl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" name="Group 50"/>
          <p:cNvGrpSpPr>
            <a:grpSpLocks noGrp="1" noUngrp="1" noChangeAspect="1"/>
          </p:cNvGrpSpPr>
          <p:nvPr/>
        </p:nvGrpSpPr>
        <p:grpSpPr>
          <a:xfrm>
            <a:off x="1676400" y="3181350"/>
            <a:ext cx="1649669" cy="1017504"/>
            <a:chOff x="4686300" y="3584575"/>
            <a:chExt cx="4114800" cy="3383972"/>
          </a:xfrm>
        </p:grpSpPr>
        <p:pic>
          <p:nvPicPr>
            <p:cNvPr id="52" name="Picture 51" descr="4-_methoxycarbonyl_phenyl_methyl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4686300" y="3584575"/>
              <a:ext cx="4114800" cy="2432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Rectangle 52"/>
            <p:cNvSpPr/>
            <p:nvPr/>
          </p:nvSpPr>
          <p:spPr>
            <a:xfrm>
              <a:off x="4686300" y="6625648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4-_methoxycarbonyl_phenyl_methyl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8" name="Group 47"/>
          <p:cNvGrpSpPr>
            <a:grpSpLocks noGrp="1" noUngrp="1" noChangeAspect="1"/>
          </p:cNvGrpSpPr>
          <p:nvPr/>
        </p:nvGrpSpPr>
        <p:grpSpPr>
          <a:xfrm>
            <a:off x="6781800" y="285750"/>
            <a:ext cx="1295400" cy="1005435"/>
            <a:chOff x="999173" y="3543300"/>
            <a:chExt cx="3659503" cy="3787138"/>
          </a:xfrm>
        </p:grpSpPr>
        <p:pic>
          <p:nvPicPr>
            <p:cNvPr id="49" name="Picture 48" descr="3-chloropropan-1-yl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1214438" y="3543300"/>
              <a:ext cx="23701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999173" y="6700520"/>
              <a:ext cx="3659503" cy="62991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3-chloropropan-1-yl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23"/>
          <p:cNvGrpSpPr>
            <a:grpSpLocks noGrp="1" noUngrp="1" noChangeAspect="1"/>
          </p:cNvGrpSpPr>
          <p:nvPr/>
        </p:nvGrpSpPr>
        <p:grpSpPr>
          <a:xfrm>
            <a:off x="4495800" y="209550"/>
            <a:ext cx="2203742" cy="1066800"/>
            <a:chOff x="4686300" y="3649663"/>
            <a:chExt cx="4114800" cy="2655887"/>
          </a:xfrm>
        </p:grpSpPr>
        <p:pic>
          <p:nvPicPr>
            <p:cNvPr id="54" name="Picture 53" descr="26-dichloroheptan-4-yl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4686300" y="3649663"/>
              <a:ext cx="4114800" cy="2300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Rectangle 54"/>
            <p:cNvSpPr/>
            <p:nvPr/>
          </p:nvSpPr>
          <p:spPr>
            <a:xfrm>
              <a:off x="4686300" y="59626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26-dichloroheptan-4-yl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2" name="Group 12"/>
          <p:cNvGrpSpPr>
            <a:grpSpLocks noGrp="1" noUngrp="1" noChangeAspect="1"/>
          </p:cNvGrpSpPr>
          <p:nvPr/>
        </p:nvGrpSpPr>
        <p:grpSpPr>
          <a:xfrm>
            <a:off x="7239000" y="3181350"/>
            <a:ext cx="1905000" cy="1034928"/>
            <a:chOff x="4762500" y="3543300"/>
            <a:chExt cx="3962400" cy="2870200"/>
          </a:xfrm>
        </p:grpSpPr>
        <p:pic>
          <p:nvPicPr>
            <p:cNvPr id="63" name="Picture 62" descr="heptadecafluorooctyl.jpg"/>
            <p:cNvPicPr>
              <a:picLocks noRot="1" noChangeAspect="1" noMove="1" noResize="1"/>
            </p:cNvPicPr>
            <p:nvPr isPhoto="1"/>
          </p:nvPicPr>
          <p:blipFill>
            <a:blip r:embed="rId15" cstate="print">
              <a:lum/>
            </a:blip>
            <a:stretch>
              <a:fillRect/>
            </a:stretch>
          </p:blipFill>
          <p:spPr>
            <a:xfrm>
              <a:off x="4762500" y="3543300"/>
              <a:ext cx="39624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Rectangle 63"/>
            <p:cNvSpPr/>
            <p:nvPr/>
          </p:nvSpPr>
          <p:spPr>
            <a:xfrm>
              <a:off x="4762500" y="6070600"/>
              <a:ext cx="396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heptadecafluorooctyl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5" name="Group 13"/>
          <p:cNvGrpSpPr>
            <a:grpSpLocks noGrp="1" noUngrp="1" noChangeAspect="1"/>
          </p:cNvGrpSpPr>
          <p:nvPr/>
        </p:nvGrpSpPr>
        <p:grpSpPr>
          <a:xfrm>
            <a:off x="5257800" y="3486150"/>
            <a:ext cx="1916995" cy="609600"/>
            <a:chOff x="4686300" y="4105275"/>
            <a:chExt cx="4114800" cy="1744663"/>
          </a:xfrm>
        </p:grpSpPr>
        <p:pic>
          <p:nvPicPr>
            <p:cNvPr id="66" name="Picture 65" descr="6-sulfanylhexyl_sulfanyl.jpg"/>
            <p:cNvPicPr>
              <a:picLocks noRot="1" noChangeAspect="1" noMove="1" noResize="1"/>
            </p:cNvPicPr>
            <p:nvPr isPhoto="1"/>
          </p:nvPicPr>
          <p:blipFill>
            <a:blip r:embed="rId16" cstate="print">
              <a:lum/>
            </a:blip>
            <a:stretch>
              <a:fillRect/>
            </a:stretch>
          </p:blipFill>
          <p:spPr>
            <a:xfrm>
              <a:off x="4686300" y="4105275"/>
              <a:ext cx="4114800" cy="138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Rectangle 66"/>
            <p:cNvSpPr/>
            <p:nvPr/>
          </p:nvSpPr>
          <p:spPr>
            <a:xfrm>
              <a:off x="4686300" y="550703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6-sulfanylhexyl_sulfanyl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6"/>
          <p:cNvGrpSpPr>
            <a:grpSpLocks noGrp="1" noUngrp="1" noChangeAspect="1"/>
          </p:cNvGrpSpPr>
          <p:nvPr/>
        </p:nvGrpSpPr>
        <p:grpSpPr>
          <a:xfrm>
            <a:off x="76200" y="361950"/>
            <a:ext cx="1676400" cy="838200"/>
            <a:chOff x="342900" y="758825"/>
            <a:chExt cx="4114800" cy="2743201"/>
          </a:xfrm>
        </p:grpSpPr>
        <p:pic>
          <p:nvPicPr>
            <p:cNvPr id="18" name="Picture 17" descr="hexan-2-yl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342900" y="758825"/>
              <a:ext cx="4114800" cy="1909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342900" y="3159126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hexan-2-yl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34"/>
          <p:cNvGrpSpPr>
            <a:grpSpLocks noGrp="1" noUngrp="1" noChangeAspect="1"/>
          </p:cNvGrpSpPr>
          <p:nvPr/>
        </p:nvGrpSpPr>
        <p:grpSpPr>
          <a:xfrm>
            <a:off x="1828800" y="133350"/>
            <a:ext cx="1402731" cy="1066800"/>
            <a:chOff x="5327650" y="457200"/>
            <a:chExt cx="2830513" cy="2870200"/>
          </a:xfrm>
        </p:grpSpPr>
        <p:pic>
          <p:nvPicPr>
            <p:cNvPr id="36" name="Picture 35" descr="hexylsulfanyl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5327650" y="457200"/>
              <a:ext cx="28305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Rectangle 36"/>
            <p:cNvSpPr/>
            <p:nvPr/>
          </p:nvSpPr>
          <p:spPr>
            <a:xfrm>
              <a:off x="5327650" y="2984500"/>
              <a:ext cx="28305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hexylsulfanyl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37"/>
          <p:cNvGrpSpPr>
            <a:grpSpLocks noGrp="1" noUngrp="1" noChangeAspect="1"/>
          </p:cNvGrpSpPr>
          <p:nvPr/>
        </p:nvGrpSpPr>
        <p:grpSpPr>
          <a:xfrm>
            <a:off x="3505200" y="384969"/>
            <a:ext cx="2743200" cy="738981"/>
            <a:chOff x="342900" y="4238625"/>
            <a:chExt cx="4114800" cy="1477963"/>
          </a:xfrm>
        </p:grpSpPr>
        <p:pic>
          <p:nvPicPr>
            <p:cNvPr id="39" name="Picture 38" descr="nonyl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342900" y="4238625"/>
              <a:ext cx="4114800" cy="11223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Rectangle 39"/>
            <p:cNvSpPr/>
            <p:nvPr/>
          </p:nvSpPr>
          <p:spPr>
            <a:xfrm>
              <a:off x="342900" y="53736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nonyl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Group 40"/>
          <p:cNvGrpSpPr>
            <a:grpSpLocks noGrp="1" noUngrp="1" noChangeAspect="1"/>
          </p:cNvGrpSpPr>
          <p:nvPr/>
        </p:nvGrpSpPr>
        <p:grpSpPr>
          <a:xfrm>
            <a:off x="6477000" y="285750"/>
            <a:ext cx="1559292" cy="685800"/>
            <a:chOff x="4686300" y="3771900"/>
            <a:chExt cx="4114800" cy="2413000"/>
          </a:xfrm>
        </p:grpSpPr>
        <p:pic>
          <p:nvPicPr>
            <p:cNvPr id="42" name="Picture 41" descr="pentyl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686300" y="3771900"/>
              <a:ext cx="4114800" cy="20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Rectangle 42"/>
            <p:cNvSpPr/>
            <p:nvPr/>
          </p:nvSpPr>
          <p:spPr>
            <a:xfrm>
              <a:off x="4686300" y="584200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pentyl</a:t>
              </a:r>
              <a:endParaRPr lang="en-US" sz="1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43"/>
          <p:cNvGrpSpPr>
            <a:grpSpLocks noGrp="1" noUngrp="1" noChangeAspect="1"/>
          </p:cNvGrpSpPr>
          <p:nvPr/>
        </p:nvGrpSpPr>
        <p:grpSpPr>
          <a:xfrm>
            <a:off x="152400" y="1428750"/>
            <a:ext cx="1600200" cy="1143000"/>
            <a:chOff x="665163" y="457200"/>
            <a:chExt cx="3470275" cy="3305023"/>
          </a:xfrm>
        </p:grpSpPr>
        <p:pic>
          <p:nvPicPr>
            <p:cNvPr id="45" name="Picture 44" descr="phenylmethanesulfonyl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665163" y="457200"/>
              <a:ext cx="34702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Rectangle 45"/>
            <p:cNvSpPr/>
            <p:nvPr/>
          </p:nvSpPr>
          <p:spPr>
            <a:xfrm>
              <a:off x="665163" y="3419322"/>
              <a:ext cx="3470275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phenylmethanesulfonyl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46"/>
          <p:cNvGrpSpPr>
            <a:grpSpLocks noGrp="1" noUngrp="1" noChangeAspect="1"/>
          </p:cNvGrpSpPr>
          <p:nvPr/>
        </p:nvGrpSpPr>
        <p:grpSpPr>
          <a:xfrm>
            <a:off x="1828801" y="1504950"/>
            <a:ext cx="3124200" cy="838200"/>
            <a:chOff x="4686300" y="1228725"/>
            <a:chExt cx="4114800" cy="1471962"/>
          </a:xfrm>
        </p:grpSpPr>
        <p:pic>
          <p:nvPicPr>
            <p:cNvPr id="48" name="Picture 47" descr="undecyl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4686300" y="1228725"/>
              <a:ext cx="4114800" cy="969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Rectangle 48"/>
            <p:cNvSpPr/>
            <p:nvPr/>
          </p:nvSpPr>
          <p:spPr>
            <a:xfrm>
              <a:off x="4686300" y="2357788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undecyl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165</Words>
  <Application>Microsoft Office PowerPoint</Application>
  <PresentationFormat>On-screen Show (16:9)</PresentationFormat>
  <Paragraphs>85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BASCALBECK</dc:creator>
  <cp:lastModifiedBy>BASCALBECK</cp:lastModifiedBy>
  <cp:revision>16</cp:revision>
  <dcterms:created xsi:type="dcterms:W3CDTF">2026-04-26T18:10:08Z</dcterms:created>
  <dcterms:modified xsi:type="dcterms:W3CDTF">2026-04-28T18:06:40Z</dcterms:modified>
</cp:coreProperties>
</file>