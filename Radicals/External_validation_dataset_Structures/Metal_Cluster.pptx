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9144000" cy="5143500" type="screen16x9"/>
  <p:notesSz cx="6858000" cy="9144000"/>
  <p:photoAlbum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100" d="100"/>
          <a:sy n="100" d="100"/>
        </p:scale>
        <p:origin x="-432" y="-78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4B8D8-298C-47AC-9815-C4F965E2E4C8}" type="datetimeFigureOut">
              <a:rPr lang="en-US" smtClean="0"/>
              <a:t>28-Apr-26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77780-8136-4BBF-9407-C10B9AB9024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4B8D8-298C-47AC-9815-C4F965E2E4C8}" type="datetimeFigureOut">
              <a:rPr lang="en-US" smtClean="0"/>
              <a:t>28-Apr-26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77780-8136-4BBF-9407-C10B9AB9024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4B8D8-298C-47AC-9815-C4F965E2E4C8}" type="datetimeFigureOut">
              <a:rPr lang="en-US" smtClean="0"/>
              <a:t>28-Apr-26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77780-8136-4BBF-9407-C10B9AB9024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4B8D8-298C-47AC-9815-C4F965E2E4C8}" type="datetimeFigureOut">
              <a:rPr lang="en-US" smtClean="0"/>
              <a:t>28-Apr-26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77780-8136-4BBF-9407-C10B9AB9024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4B8D8-298C-47AC-9815-C4F965E2E4C8}" type="datetimeFigureOut">
              <a:rPr lang="en-US" smtClean="0"/>
              <a:t>28-Apr-26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77780-8136-4BBF-9407-C10B9AB9024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4B8D8-298C-47AC-9815-C4F965E2E4C8}" type="datetimeFigureOut">
              <a:rPr lang="en-US" smtClean="0"/>
              <a:t>28-Apr-26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77780-8136-4BBF-9407-C10B9AB9024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4B8D8-298C-47AC-9815-C4F965E2E4C8}" type="datetimeFigureOut">
              <a:rPr lang="en-US" smtClean="0"/>
              <a:t>28-Apr-26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77780-8136-4BBF-9407-C10B9AB9024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4B8D8-298C-47AC-9815-C4F965E2E4C8}" type="datetimeFigureOut">
              <a:rPr lang="en-US" smtClean="0"/>
              <a:t>28-Apr-26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77780-8136-4BBF-9407-C10B9AB9024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4B8D8-298C-47AC-9815-C4F965E2E4C8}" type="datetimeFigureOut">
              <a:rPr lang="en-US" smtClean="0"/>
              <a:t>28-Apr-26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77780-8136-4BBF-9407-C10B9AB9024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4B8D8-298C-47AC-9815-C4F965E2E4C8}" type="datetimeFigureOut">
              <a:rPr lang="en-US" smtClean="0"/>
              <a:t>28-Apr-26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77780-8136-4BBF-9407-C10B9AB9024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54781"/>
            <a:ext cx="2057400" cy="32908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54781"/>
            <a:ext cx="6019800" cy="32908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4B8D8-298C-47AC-9815-C4F965E2E4C8}" type="datetimeFigureOut">
              <a:rPr lang="en-US" smtClean="0"/>
              <a:t>28-Apr-26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377780-8136-4BBF-9407-C10B9AB9024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D4B8D8-298C-47AC-9815-C4F965E2E4C8}" type="datetimeFigureOut">
              <a:rPr lang="en-US" smtClean="0"/>
              <a:t>28-Apr-26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377780-8136-4BBF-9407-C10B9AB9024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DipN-PLY_Ge.jpg"/>
          <p:cNvPicPr>
            <a:picLocks noGrp="1" noChangeAspect="1"/>
          </p:cNvPicPr>
          <p:nvPr isPhoto="1"/>
        </p:nvPicPr>
        <p:blipFill>
          <a:blip r:embed="rId2" cstate="print">
            <a:lum/>
          </a:blip>
          <a:srcRect l="18750" t="18750" r="8333" b="14583"/>
          <a:stretch>
            <a:fillRect/>
          </a:stretch>
        </p:blipFill>
        <p:spPr>
          <a:xfrm>
            <a:off x="0" y="0"/>
            <a:ext cx="1905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/>
          <p:cNvSpPr txBox="1"/>
          <p:nvPr/>
        </p:nvSpPr>
        <p:spPr>
          <a:xfrm>
            <a:off x="228600" y="1733550"/>
            <a:ext cx="1295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DipN-PLY_Ge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5" name="Group 4"/>
          <p:cNvGrpSpPr>
            <a:grpSpLocks noGrp="1" noUngrp="1" noChangeAspect="1"/>
          </p:cNvGrpSpPr>
          <p:nvPr/>
        </p:nvGrpSpPr>
        <p:grpSpPr>
          <a:xfrm>
            <a:off x="2133600" y="666750"/>
            <a:ext cx="533400" cy="425450"/>
            <a:chOff x="342900" y="835025"/>
            <a:chExt cx="4114800" cy="3282050"/>
          </a:xfrm>
        </p:grpSpPr>
        <p:pic>
          <p:nvPicPr>
            <p:cNvPr id="6" name="Picture 5" descr="Li2F.jpg"/>
            <p:cNvPicPr>
              <a:picLocks noRot="1" noChangeAspect="1" noMove="1" noResize="1"/>
            </p:cNvPicPr>
            <p:nvPr isPhoto="1"/>
          </p:nvPicPr>
          <p:blipFill>
            <a:blip r:embed="rId3" cstate="print">
              <a:lum/>
            </a:blip>
            <a:stretch>
              <a:fillRect/>
            </a:stretch>
          </p:blipFill>
          <p:spPr>
            <a:xfrm>
              <a:off x="342900" y="835025"/>
              <a:ext cx="4114800" cy="17573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" name="Rectangle 6"/>
            <p:cNvSpPr/>
            <p:nvPr/>
          </p:nvSpPr>
          <p:spPr>
            <a:xfrm>
              <a:off x="342900" y="3774174"/>
              <a:ext cx="4114800" cy="342901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Li</a:t>
              </a:r>
              <a:r>
                <a:rPr lang="en-US" sz="1200" baseline="-25000" dirty="0" smtClean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F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8" name="Group 7"/>
          <p:cNvGrpSpPr>
            <a:grpSpLocks noGrp="1" noUngrp="1" noChangeAspect="1"/>
          </p:cNvGrpSpPr>
          <p:nvPr/>
        </p:nvGrpSpPr>
        <p:grpSpPr>
          <a:xfrm>
            <a:off x="3048000" y="514351"/>
            <a:ext cx="496186" cy="609599"/>
            <a:chOff x="5600700" y="457200"/>
            <a:chExt cx="2284413" cy="4142716"/>
          </a:xfrm>
        </p:grpSpPr>
        <p:pic>
          <p:nvPicPr>
            <p:cNvPr id="9" name="Picture 8" descr="Li3O.jpg"/>
            <p:cNvPicPr>
              <a:picLocks noRot="1" noChangeAspect="1" noMove="1" noResize="1"/>
            </p:cNvPicPr>
            <p:nvPr isPhoto="1"/>
          </p:nvPicPr>
          <p:blipFill>
            <a:blip r:embed="rId4" cstate="print">
              <a:lum/>
            </a:blip>
            <a:stretch>
              <a:fillRect/>
            </a:stretch>
          </p:blipFill>
          <p:spPr>
            <a:xfrm>
              <a:off x="5600700" y="457200"/>
              <a:ext cx="2284413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" name="Rectangle 9"/>
            <p:cNvSpPr/>
            <p:nvPr/>
          </p:nvSpPr>
          <p:spPr>
            <a:xfrm>
              <a:off x="5600700" y="4310895"/>
              <a:ext cx="2284413" cy="289021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Li</a:t>
              </a:r>
              <a:r>
                <a:rPr lang="en-US" sz="1200" baseline="-25000" dirty="0" smtClean="0"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O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1" name="Group 10"/>
          <p:cNvGrpSpPr>
            <a:grpSpLocks noGrp="1" noUngrp="1" noChangeAspect="1"/>
          </p:cNvGrpSpPr>
          <p:nvPr/>
        </p:nvGrpSpPr>
        <p:grpSpPr>
          <a:xfrm>
            <a:off x="3733800" y="514352"/>
            <a:ext cx="609600" cy="666244"/>
            <a:chOff x="883784" y="3543300"/>
            <a:chExt cx="3690255" cy="4033159"/>
          </a:xfrm>
        </p:grpSpPr>
        <p:pic>
          <p:nvPicPr>
            <p:cNvPr id="12" name="Picture 11" descr="Li3O2.jpg"/>
            <p:cNvPicPr>
              <a:picLocks noRot="1" noChangeAspect="1" noMove="1" noResize="1"/>
            </p:cNvPicPr>
            <p:nvPr isPhoto="1"/>
          </p:nvPicPr>
          <p:blipFill>
            <a:blip r:embed="rId5" cstate="print">
              <a:lum/>
            </a:blip>
            <a:stretch>
              <a:fillRect/>
            </a:stretch>
          </p:blipFill>
          <p:spPr>
            <a:xfrm>
              <a:off x="1293813" y="3543300"/>
              <a:ext cx="2211387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" name="Rectangle 12"/>
            <p:cNvSpPr/>
            <p:nvPr/>
          </p:nvSpPr>
          <p:spPr>
            <a:xfrm>
              <a:off x="883784" y="6823529"/>
              <a:ext cx="3690255" cy="752930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Li</a:t>
              </a:r>
              <a:r>
                <a:rPr lang="en-US" sz="1200" baseline="-25000" dirty="0" smtClean="0"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O</a:t>
              </a:r>
              <a:r>
                <a:rPr lang="en-US" sz="1200" baseline="-25000" dirty="0" smtClean="0">
                  <a:latin typeface="Times New Roman" pitchFamily="18" charset="0"/>
                  <a:cs typeface="Times New Roman" pitchFamily="18" charset="0"/>
                </a:rPr>
                <a:t>2</a:t>
              </a:r>
              <a:endParaRPr lang="en-US" sz="1200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4" name="Group 13"/>
          <p:cNvGrpSpPr>
            <a:grpSpLocks noGrp="1" noUngrp="1" noChangeAspect="1"/>
          </p:cNvGrpSpPr>
          <p:nvPr/>
        </p:nvGrpSpPr>
        <p:grpSpPr>
          <a:xfrm>
            <a:off x="4648200" y="514351"/>
            <a:ext cx="609600" cy="609600"/>
            <a:chOff x="5486400" y="3543300"/>
            <a:chExt cx="2513013" cy="3623130"/>
          </a:xfrm>
        </p:grpSpPr>
        <p:pic>
          <p:nvPicPr>
            <p:cNvPr id="15" name="Picture 14" descr="Li4N.jpg"/>
            <p:cNvPicPr>
              <a:picLocks noRot="1" noChangeAspect="1" noMove="1" noResize="1"/>
            </p:cNvPicPr>
            <p:nvPr isPhoto="1"/>
          </p:nvPicPr>
          <p:blipFill>
            <a:blip r:embed="rId6" cstate="print">
              <a:lum/>
            </a:blip>
            <a:stretch>
              <a:fillRect/>
            </a:stretch>
          </p:blipFill>
          <p:spPr>
            <a:xfrm>
              <a:off x="5486400" y="3543300"/>
              <a:ext cx="2513013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Rectangle 15"/>
            <p:cNvSpPr/>
            <p:nvPr/>
          </p:nvSpPr>
          <p:spPr>
            <a:xfrm>
              <a:off x="5486400" y="6823529"/>
              <a:ext cx="2513013" cy="342901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Li</a:t>
              </a:r>
              <a:r>
                <a:rPr lang="en-US" sz="1200" baseline="-25000" dirty="0" smtClean="0">
                  <a:latin typeface="Times New Roman" pitchFamily="18" charset="0"/>
                  <a:cs typeface="Times New Roman" pitchFamily="18" charset="0"/>
                </a:rPr>
                <a:t>4</a:t>
              </a:r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N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17" name="Group 16"/>
          <p:cNvGrpSpPr>
            <a:grpSpLocks noGrp="1" noUngrp="1" noChangeAspect="1"/>
          </p:cNvGrpSpPr>
          <p:nvPr/>
        </p:nvGrpSpPr>
        <p:grpSpPr>
          <a:xfrm>
            <a:off x="5334000" y="514350"/>
            <a:ext cx="700127" cy="685800"/>
            <a:chOff x="445180" y="457200"/>
            <a:chExt cx="3280234" cy="3213101"/>
          </a:xfrm>
        </p:grpSpPr>
        <p:pic>
          <p:nvPicPr>
            <p:cNvPr id="18" name="Picture 17" descr="Na3O.jpg"/>
            <p:cNvPicPr>
              <a:picLocks noRot="1" noChangeAspect="1" noMove="1" noResize="1"/>
            </p:cNvPicPr>
            <p:nvPr isPhoto="1"/>
          </p:nvPicPr>
          <p:blipFill>
            <a:blip r:embed="rId7" cstate="print">
              <a:lum/>
            </a:blip>
            <a:stretch>
              <a:fillRect/>
            </a:stretch>
          </p:blipFill>
          <p:spPr>
            <a:xfrm>
              <a:off x="1265238" y="457200"/>
              <a:ext cx="2270125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" name="Rectangle 18"/>
            <p:cNvSpPr/>
            <p:nvPr/>
          </p:nvSpPr>
          <p:spPr>
            <a:xfrm>
              <a:off x="445180" y="3327400"/>
              <a:ext cx="3280234" cy="342901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Na</a:t>
              </a:r>
              <a:r>
                <a:rPr lang="en-US" sz="1200" baseline="-25000" dirty="0" smtClean="0"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O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20" name="Group 19"/>
          <p:cNvGrpSpPr>
            <a:grpSpLocks noGrp="1" noUngrp="1" noChangeAspect="1"/>
          </p:cNvGrpSpPr>
          <p:nvPr/>
        </p:nvGrpSpPr>
        <p:grpSpPr>
          <a:xfrm>
            <a:off x="6172200" y="514350"/>
            <a:ext cx="762000" cy="675807"/>
            <a:chOff x="4808533" y="457200"/>
            <a:chExt cx="3946524" cy="3500120"/>
          </a:xfrm>
        </p:grpSpPr>
        <p:pic>
          <p:nvPicPr>
            <p:cNvPr id="21" name="Picture 20" descr="NLi3Na.jpg"/>
            <p:cNvPicPr>
              <a:picLocks noRot="1" noChangeAspect="1" noMove="1" noResize="1"/>
            </p:cNvPicPr>
            <p:nvPr isPhoto="1"/>
          </p:nvPicPr>
          <p:blipFill>
            <a:blip r:embed="rId8" cstate="print">
              <a:lum/>
            </a:blip>
            <a:stretch>
              <a:fillRect/>
            </a:stretch>
          </p:blipFill>
          <p:spPr>
            <a:xfrm>
              <a:off x="5526088" y="457200"/>
              <a:ext cx="2435225" cy="2514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" name="Rectangle 21"/>
            <p:cNvSpPr/>
            <p:nvPr/>
          </p:nvSpPr>
          <p:spPr>
            <a:xfrm>
              <a:off x="4808533" y="3614423"/>
              <a:ext cx="3946524" cy="342897"/>
            </a:xfrm>
            <a:prstGeom prst="rect">
              <a:avLst/>
            </a:prstGeom>
            <a:noFill/>
            <a:ln>
              <a:noFill/>
            </a:ln>
          </p:spPr>
          <p:txBody>
            <a:bodyPr anchor="ctr">
              <a:noAutofit/>
            </a:bodyPr>
            <a:lstStyle/>
            <a:p>
              <a:pPr algn="ctr"/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NLi</a:t>
              </a:r>
              <a:r>
                <a:rPr lang="en-US" sz="1200" baseline="-25000" dirty="0" smtClean="0">
                  <a:latin typeface="Times New Roman" pitchFamily="18" charset="0"/>
                  <a:cs typeface="Times New Roman" pitchFamily="18" charset="0"/>
                </a:rPr>
                <a:t>3</a:t>
              </a:r>
              <a:r>
                <a:rPr lang="en-US" sz="1200" dirty="0" smtClean="0">
                  <a:latin typeface="Times New Roman" pitchFamily="18" charset="0"/>
                  <a:cs typeface="Times New Roman" pitchFamily="18" charset="0"/>
                </a:rPr>
                <a:t>Na</a:t>
              </a:r>
              <a:endParaRPr lang="en-US" sz="1200" dirty="0">
                <a:latin typeface="Times New Roman" pitchFamily="18" charset="0"/>
                <a:cs typeface="Times New Roman" pitchFamily="18" charset="0"/>
              </a:endParaRPr>
            </a:p>
          </p:txBody>
        </p:sp>
      </p:grpSp>
      <p:pic>
        <p:nvPicPr>
          <p:cNvPr id="1027" name="Picture 3" descr="C:\Users\BASCALBECK\Desktop\Only_opt_gjf\Superhalogen\B2F7_radical.jp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7391400" y="438150"/>
            <a:ext cx="990600" cy="688609"/>
          </a:xfrm>
          <a:prstGeom prst="rect">
            <a:avLst/>
          </a:prstGeom>
          <a:noFill/>
        </p:spPr>
      </p:pic>
      <p:sp>
        <p:nvSpPr>
          <p:cNvPr id="24" name="TextBox 23"/>
          <p:cNvSpPr txBox="1"/>
          <p:nvPr/>
        </p:nvSpPr>
        <p:spPr>
          <a:xfrm>
            <a:off x="7391400" y="1200150"/>
            <a:ext cx="1143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12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1200" baseline="-25000" dirty="0" smtClean="0"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sz="1200" dirty="0" smtClean="0">
                <a:latin typeface="Times New Roman" pitchFamily="18" charset="0"/>
                <a:cs typeface="Times New Roman" pitchFamily="18" charset="0"/>
              </a:rPr>
              <a:t>_radical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1028" name="Picture 4" descr="C:\Users\BASCALBECK\Desktop\Only_opt_gjf\Superhalogen\tetrachloroaluminyl.jpg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381000" y="2190750"/>
            <a:ext cx="764158" cy="762000"/>
          </a:xfrm>
          <a:prstGeom prst="rect">
            <a:avLst/>
          </a:prstGeom>
          <a:noFill/>
        </p:spPr>
      </p:pic>
      <p:pic>
        <p:nvPicPr>
          <p:cNvPr id="1029" name="Picture 5" descr="C:\Users\BASCALBECK\Desktop\Only_opt_gjf\Superhalogen\tetrafluoroaluminyl.jpg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1981200" y="2190750"/>
            <a:ext cx="673109" cy="685800"/>
          </a:xfrm>
          <a:prstGeom prst="rect">
            <a:avLst/>
          </a:prstGeom>
          <a:noFill/>
        </p:spPr>
      </p:pic>
      <p:sp>
        <p:nvSpPr>
          <p:cNvPr id="28" name="TextBox 27"/>
          <p:cNvSpPr txBox="1"/>
          <p:nvPr/>
        </p:nvSpPr>
        <p:spPr>
          <a:xfrm>
            <a:off x="152400" y="3028950"/>
            <a:ext cx="1524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Tetrachloroaluminyl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752600" y="3028950"/>
            <a:ext cx="1447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err="1" smtClean="0">
                <a:latin typeface="Times New Roman" pitchFamily="18" charset="0"/>
                <a:cs typeface="Times New Roman" pitchFamily="18" charset="0"/>
              </a:rPr>
              <a:t>Tetrafluoroaluminyl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10</Words>
  <Application>Microsoft Office PowerPoint</Application>
  <PresentationFormat>On-screen Show (16:9)</PresentationFormat>
  <Paragraphs>10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BASCALBECK</dc:creator>
  <cp:lastModifiedBy>BASCALBECK</cp:lastModifiedBy>
  <cp:revision>2</cp:revision>
  <dcterms:created xsi:type="dcterms:W3CDTF">2026-04-28T17:05:43Z</dcterms:created>
  <dcterms:modified xsi:type="dcterms:W3CDTF">2026-04-28T17:26:18Z</dcterms:modified>
</cp:coreProperties>
</file>