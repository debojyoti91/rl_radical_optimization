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14" y="5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B801C-E294-4234-83D0-D644256F3914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C5B01-284F-403E-A35C-8CFD81253B3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5.jpeg"/><Relationship Id="rId7" Type="http://schemas.openxmlformats.org/officeDocument/2006/relationships/image" Target="../media/image39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10" Type="http://schemas.openxmlformats.org/officeDocument/2006/relationships/image" Target="../media/image42.jpeg"/><Relationship Id="rId4" Type="http://schemas.openxmlformats.org/officeDocument/2006/relationships/image" Target="../media/image36.jpeg"/><Relationship Id="rId9" Type="http://schemas.openxmlformats.org/officeDocument/2006/relationships/image" Target="../media/image4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44.jpeg"/><Relationship Id="rId7" Type="http://schemas.openxmlformats.org/officeDocument/2006/relationships/image" Target="../media/image48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jpeg"/><Relationship Id="rId9" Type="http://schemas.openxmlformats.org/officeDocument/2006/relationships/image" Target="../media/image5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3" Type="http://schemas.openxmlformats.org/officeDocument/2006/relationships/image" Target="../media/image52.jpeg"/><Relationship Id="rId7" Type="http://schemas.openxmlformats.org/officeDocument/2006/relationships/image" Target="../media/image56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Relationship Id="rId9" Type="http://schemas.openxmlformats.org/officeDocument/2006/relationships/image" Target="../media/image5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jpeg"/><Relationship Id="rId7" Type="http://schemas.openxmlformats.org/officeDocument/2006/relationships/image" Target="../media/image64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76200" y="57150"/>
            <a:ext cx="1981200" cy="1828800"/>
            <a:chOff x="99391" y="57150"/>
            <a:chExt cx="2584174" cy="1828800"/>
          </a:xfrm>
        </p:grpSpPr>
        <p:pic>
          <p:nvPicPr>
            <p:cNvPr id="1026" name="Picture 2" descr="C:\Users\BASCALBECK\Desktop\Only_opt_gjf\DPPH\22-diphenyl-1-246-trinitrophenyl_hydrazin-1-yl_new1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7565" y="57150"/>
              <a:ext cx="2019300" cy="1250298"/>
            </a:xfrm>
            <a:prstGeom prst="rect">
              <a:avLst/>
            </a:prstGeom>
            <a:noFill/>
          </p:spPr>
        </p:pic>
        <p:sp>
          <p:nvSpPr>
            <p:cNvPr id="5" name="Rectangle 4"/>
            <p:cNvSpPr/>
            <p:nvPr/>
          </p:nvSpPr>
          <p:spPr>
            <a:xfrm>
              <a:off x="99391" y="1424285"/>
              <a:ext cx="258417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22-diphenyl-1-246-trinitrophenyl_hydrazin-1-yl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057400" y="0"/>
            <a:ext cx="2514600" cy="1858149"/>
            <a:chOff x="2057400" y="0"/>
            <a:chExt cx="2514600" cy="1858149"/>
          </a:xfrm>
        </p:grpSpPr>
        <p:pic>
          <p:nvPicPr>
            <p:cNvPr id="1027" name="Picture 3" descr="C:\Users\BASCALBECK\Desktop\Only_opt_gjf\JACS\ExBox4+_new1.jpg"/>
            <p:cNvPicPr>
              <a:picLocks noChangeAspect="1" noChangeArrowheads="1"/>
            </p:cNvPicPr>
            <p:nvPr/>
          </p:nvPicPr>
          <p:blipFill>
            <a:blip r:embed="rId3" cstate="print"/>
            <a:srcRect l="4762" t="21429" r="4762" b="21428"/>
            <a:stretch>
              <a:fillRect/>
            </a:stretch>
          </p:blipFill>
          <p:spPr bwMode="auto">
            <a:xfrm>
              <a:off x="2057400" y="0"/>
              <a:ext cx="2514600" cy="1588168"/>
            </a:xfrm>
            <a:prstGeom prst="rect">
              <a:avLst/>
            </a:prstGeom>
            <a:noFill/>
          </p:spPr>
        </p:pic>
        <p:sp>
          <p:nvSpPr>
            <p:cNvPr id="9" name="Rectangle 8"/>
            <p:cNvSpPr/>
            <p:nvPr/>
          </p:nvSpPr>
          <p:spPr>
            <a:xfrm>
              <a:off x="2819400" y="1581150"/>
              <a:ext cx="77617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ExBox4+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419600" y="54010"/>
            <a:ext cx="2176109" cy="1804139"/>
            <a:chOff x="4419600" y="54010"/>
            <a:chExt cx="2176109" cy="1804139"/>
          </a:xfrm>
        </p:grpSpPr>
        <p:pic>
          <p:nvPicPr>
            <p:cNvPr id="1028" name="Picture 4" descr="C:\Users\BASCALBECK\Desktop\Only_opt_gjf\Ligh_SandA\tris-246-trichlorophenyl_methyl_new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724400" y="54010"/>
              <a:ext cx="1371600" cy="1603340"/>
            </a:xfrm>
            <a:prstGeom prst="rect">
              <a:avLst/>
            </a:prstGeom>
            <a:noFill/>
          </p:spPr>
        </p:pic>
        <p:sp>
          <p:nvSpPr>
            <p:cNvPr id="12" name="Rectangle 11"/>
            <p:cNvSpPr/>
            <p:nvPr/>
          </p:nvSpPr>
          <p:spPr>
            <a:xfrm>
              <a:off x="4419600" y="1581150"/>
              <a:ext cx="217610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tris-246-trichlorophenyl_methyl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" name="Group 10"/>
          <p:cNvGrpSpPr>
            <a:grpSpLocks noGrp="1" noUngrp="1" noChangeAspect="1"/>
          </p:cNvGrpSpPr>
          <p:nvPr/>
        </p:nvGrpSpPr>
        <p:grpSpPr>
          <a:xfrm>
            <a:off x="6781800" y="361950"/>
            <a:ext cx="1828799" cy="1371600"/>
            <a:chOff x="342900" y="606425"/>
            <a:chExt cx="4114800" cy="3086100"/>
          </a:xfrm>
        </p:grpSpPr>
        <p:pic>
          <p:nvPicPr>
            <p:cNvPr id="14" name="Picture 13" descr="10_CV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342900" y="606425"/>
              <a:ext cx="4114800" cy="2216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Rectangle 14"/>
            <p:cNvSpPr/>
            <p:nvPr/>
          </p:nvSpPr>
          <p:spPr>
            <a:xfrm>
              <a:off x="342900" y="3349625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diphenylmethylium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6" name="Group 15"/>
          <p:cNvGrpSpPr>
            <a:grpSpLocks noGrp="1" noUngrp="1" noChangeAspect="1"/>
          </p:cNvGrpSpPr>
          <p:nvPr/>
        </p:nvGrpSpPr>
        <p:grpSpPr>
          <a:xfrm>
            <a:off x="-1" y="1962150"/>
            <a:ext cx="1752601" cy="1371600"/>
            <a:chOff x="4867275" y="457200"/>
            <a:chExt cx="3883212" cy="3039038"/>
          </a:xfrm>
        </p:grpSpPr>
        <p:pic>
          <p:nvPicPr>
            <p:cNvPr id="17" name="Picture 16" descr="11_CV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4867275" y="457200"/>
              <a:ext cx="375285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Rectangle 17"/>
            <p:cNvSpPr/>
            <p:nvPr/>
          </p:nvSpPr>
          <p:spPr>
            <a:xfrm>
              <a:off x="4867277" y="3158567"/>
              <a:ext cx="3883210" cy="33767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(3-fluoro-4-methylphenyl)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9" name="Group 18"/>
          <p:cNvGrpSpPr>
            <a:grpSpLocks noGrp="1" noUngrp="1" noChangeAspect="1"/>
          </p:cNvGrpSpPr>
          <p:nvPr/>
        </p:nvGrpSpPr>
        <p:grpSpPr>
          <a:xfrm>
            <a:off x="1752600" y="2051314"/>
            <a:ext cx="1676400" cy="1206236"/>
            <a:chOff x="342900" y="3622675"/>
            <a:chExt cx="4310743" cy="3101749"/>
          </a:xfrm>
        </p:grpSpPr>
        <p:pic>
          <p:nvPicPr>
            <p:cNvPr id="20" name="Picture 19" descr="12_CV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342900" y="3622675"/>
              <a:ext cx="4114800" cy="2354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Rectangle 20"/>
            <p:cNvSpPr/>
            <p:nvPr/>
          </p:nvSpPr>
          <p:spPr>
            <a:xfrm>
              <a:off x="342900" y="6381524"/>
              <a:ext cx="431074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(4-fluorophenyl)(phenyl)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2" name="Group 21"/>
          <p:cNvGrpSpPr>
            <a:grpSpLocks noGrp="1" noUngrp="1" noChangeAspect="1"/>
          </p:cNvGrpSpPr>
          <p:nvPr/>
        </p:nvGrpSpPr>
        <p:grpSpPr>
          <a:xfrm>
            <a:off x="3352800" y="2038350"/>
            <a:ext cx="1928274" cy="1227490"/>
            <a:chOff x="4686300" y="3840163"/>
            <a:chExt cx="4114800" cy="2619375"/>
          </a:xfrm>
        </p:grpSpPr>
        <p:pic>
          <p:nvPicPr>
            <p:cNvPr id="23" name="Picture 22" descr="14_CV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4686300" y="3840163"/>
              <a:ext cx="4114800" cy="1920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Rectangle 23"/>
            <p:cNvSpPr/>
            <p:nvPr/>
          </p:nvSpPr>
          <p:spPr>
            <a:xfrm>
              <a:off x="4686300" y="6116637"/>
              <a:ext cx="4114800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phenyl(p-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tolyl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5" name="Group 24"/>
          <p:cNvGrpSpPr>
            <a:grpSpLocks noGrp="1" noUngrp="1" noChangeAspect="1"/>
          </p:cNvGrpSpPr>
          <p:nvPr/>
        </p:nvGrpSpPr>
        <p:grpSpPr>
          <a:xfrm>
            <a:off x="5334000" y="1809751"/>
            <a:ext cx="1981200" cy="1467055"/>
            <a:chOff x="420688" y="457200"/>
            <a:chExt cx="3957637" cy="2930586"/>
          </a:xfrm>
        </p:grpSpPr>
        <p:pic>
          <p:nvPicPr>
            <p:cNvPr id="26" name="Picture 25" descr="15_CV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420688" y="457200"/>
              <a:ext cx="39576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Rectangle 26"/>
            <p:cNvSpPr/>
            <p:nvPr/>
          </p:nvSpPr>
          <p:spPr>
            <a:xfrm>
              <a:off x="420688" y="3044886"/>
              <a:ext cx="395763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1,3-bis(3-fluorophenyl)propan-2-ylium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8" name="Group 27"/>
          <p:cNvGrpSpPr>
            <a:grpSpLocks noGrp="1" noUngrp="1" noChangeAspect="1"/>
          </p:cNvGrpSpPr>
          <p:nvPr/>
        </p:nvGrpSpPr>
        <p:grpSpPr>
          <a:xfrm>
            <a:off x="7315200" y="1779378"/>
            <a:ext cx="1750914" cy="1478172"/>
            <a:chOff x="4951413" y="457200"/>
            <a:chExt cx="3584575" cy="3026202"/>
          </a:xfrm>
        </p:grpSpPr>
        <p:pic>
          <p:nvPicPr>
            <p:cNvPr id="29" name="Picture 28" descr="16_CV.jpg"/>
            <p:cNvPicPr>
              <a:picLocks noRot="1" noChangeAspect="1" noMove="1" noResize="1"/>
            </p:cNvPicPr>
            <p:nvPr isPhoto="1"/>
          </p:nvPicPr>
          <p:blipFill>
            <a:blip r:embed="rId10" cstate="print">
              <a:lum/>
            </a:blip>
            <a:stretch>
              <a:fillRect/>
            </a:stretch>
          </p:blipFill>
          <p:spPr>
            <a:xfrm>
              <a:off x="4951413" y="457200"/>
              <a:ext cx="35845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Rectangle 29"/>
            <p:cNvSpPr/>
            <p:nvPr/>
          </p:nvSpPr>
          <p:spPr>
            <a:xfrm>
              <a:off x="4951413" y="3140502"/>
              <a:ext cx="35845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di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-p-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tolylmethylium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1" name="Group 30"/>
          <p:cNvGrpSpPr>
            <a:grpSpLocks noGrp="1" noUngrp="1" noChangeAspect="1"/>
          </p:cNvGrpSpPr>
          <p:nvPr/>
        </p:nvGrpSpPr>
        <p:grpSpPr>
          <a:xfrm>
            <a:off x="76200" y="3638550"/>
            <a:ext cx="1752600" cy="1219200"/>
            <a:chOff x="342900" y="3595688"/>
            <a:chExt cx="4114800" cy="2862470"/>
          </a:xfrm>
        </p:grpSpPr>
        <p:pic>
          <p:nvPicPr>
            <p:cNvPr id="32" name="Picture 31" descr="19_CV.jpg"/>
            <p:cNvPicPr>
              <a:picLocks noRot="1" noChangeAspect="1" noMove="1" noResize="1"/>
            </p:cNvPicPr>
            <p:nvPr isPhoto="1"/>
          </p:nvPicPr>
          <p:blipFill>
            <a:blip r:embed="rId11" cstate="print">
              <a:lum/>
            </a:blip>
            <a:stretch>
              <a:fillRect/>
            </a:stretch>
          </p:blipFill>
          <p:spPr>
            <a:xfrm>
              <a:off x="342900" y="3595688"/>
              <a:ext cx="4114800" cy="2409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Rectangle 32"/>
            <p:cNvSpPr/>
            <p:nvPr/>
          </p:nvSpPr>
          <p:spPr>
            <a:xfrm>
              <a:off x="342900" y="611525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(4-phenoxyphenyl)(phenyl)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4" name="Group 33"/>
          <p:cNvGrpSpPr>
            <a:grpSpLocks noGrp="1" noUngrp="1" noChangeAspect="1"/>
          </p:cNvGrpSpPr>
          <p:nvPr/>
        </p:nvGrpSpPr>
        <p:grpSpPr>
          <a:xfrm>
            <a:off x="1981200" y="3638550"/>
            <a:ext cx="1981200" cy="1219200"/>
            <a:chOff x="342900" y="838200"/>
            <a:chExt cx="4114800" cy="2532185"/>
          </a:xfrm>
        </p:grpSpPr>
        <p:pic>
          <p:nvPicPr>
            <p:cNvPr id="35" name="Picture 34" descr="1_CV.jpg"/>
            <p:cNvPicPr>
              <a:picLocks noRot="1" noChangeAspect="1" noMove="1" noResize="1"/>
            </p:cNvPicPr>
            <p:nvPr isPhoto="1"/>
          </p:nvPicPr>
          <p:blipFill>
            <a:blip r:embed="rId12" cstate="print">
              <a:lum/>
            </a:blip>
            <a:stretch>
              <a:fillRect/>
            </a:stretch>
          </p:blipFill>
          <p:spPr>
            <a:xfrm>
              <a:off x="342900" y="838200"/>
              <a:ext cx="4114800" cy="175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Rectangle 35"/>
            <p:cNvSpPr/>
            <p:nvPr/>
          </p:nvSpPr>
          <p:spPr>
            <a:xfrm>
              <a:off x="342900" y="3027485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(4-(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trifluoromethyl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7" name="Group 36"/>
          <p:cNvGrpSpPr>
            <a:grpSpLocks noGrp="1" noUngrp="1" noChangeAspect="1"/>
          </p:cNvGrpSpPr>
          <p:nvPr/>
        </p:nvGrpSpPr>
        <p:grpSpPr>
          <a:xfrm>
            <a:off x="6530441" y="3333750"/>
            <a:ext cx="1851559" cy="1600200"/>
            <a:chOff x="739775" y="457200"/>
            <a:chExt cx="3321050" cy="2870200"/>
          </a:xfrm>
        </p:grpSpPr>
        <p:pic>
          <p:nvPicPr>
            <p:cNvPr id="38" name="Picture 37" descr="22_CV.jpg"/>
            <p:cNvPicPr>
              <a:picLocks noRot="1" noChangeAspect="1" noMove="1" noResize="1"/>
            </p:cNvPicPr>
            <p:nvPr isPhoto="1"/>
          </p:nvPicPr>
          <p:blipFill>
            <a:blip r:embed="rId13" cstate="print">
              <a:lum/>
            </a:blip>
            <a:stretch>
              <a:fillRect/>
            </a:stretch>
          </p:blipFill>
          <p:spPr>
            <a:xfrm>
              <a:off x="739775" y="457200"/>
              <a:ext cx="332105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Rectangle 38"/>
            <p:cNvSpPr/>
            <p:nvPr/>
          </p:nvSpPr>
          <p:spPr>
            <a:xfrm>
              <a:off x="739775" y="2984500"/>
              <a:ext cx="33210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(E)-1,3-diphenylallylium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3" name="Group 42"/>
          <p:cNvGrpSpPr>
            <a:grpSpLocks noGrp="1" noUngrp="1" noChangeAspect="1"/>
          </p:cNvGrpSpPr>
          <p:nvPr/>
        </p:nvGrpSpPr>
        <p:grpSpPr>
          <a:xfrm>
            <a:off x="4071630" y="3486150"/>
            <a:ext cx="2252970" cy="1406948"/>
            <a:chOff x="4686300" y="3725863"/>
            <a:chExt cx="4114800" cy="2569634"/>
          </a:xfrm>
        </p:grpSpPr>
        <p:pic>
          <p:nvPicPr>
            <p:cNvPr id="44" name="Picture 43" descr="21_CV.jpg"/>
            <p:cNvPicPr>
              <a:picLocks noRot="1" noChangeAspect="1" noMove="1" noResize="1"/>
            </p:cNvPicPr>
            <p:nvPr isPhoto="1"/>
          </p:nvPicPr>
          <p:blipFill>
            <a:blip r:embed="rId14" cstate="print">
              <a:lum/>
            </a:blip>
            <a:stretch>
              <a:fillRect/>
            </a:stretch>
          </p:blipFill>
          <p:spPr>
            <a:xfrm>
              <a:off x="4686300" y="3725863"/>
              <a:ext cx="4114800" cy="2149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Rectangle 44"/>
            <p:cNvSpPr/>
            <p:nvPr/>
          </p:nvSpPr>
          <p:spPr>
            <a:xfrm>
              <a:off x="4686300" y="5952596"/>
              <a:ext cx="4114800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2(E)-1,3-bis(4-bromophenyl)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>
            <a:grpSpLocks noGrp="1" noUngrp="1" noChangeAspect="1"/>
          </p:cNvGrpSpPr>
          <p:nvPr/>
        </p:nvGrpSpPr>
        <p:grpSpPr>
          <a:xfrm>
            <a:off x="2099631" y="59907"/>
            <a:ext cx="2155633" cy="1383032"/>
            <a:chOff x="342900" y="3657600"/>
            <a:chExt cx="4114800" cy="2640013"/>
          </a:xfrm>
        </p:grpSpPr>
        <p:pic>
          <p:nvPicPr>
            <p:cNvPr id="9" name="Picture 8" descr="28_CV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342900" y="3657600"/>
              <a:ext cx="4114800" cy="22844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/>
          </p:nvSpPr>
          <p:spPr>
            <a:xfrm>
              <a:off x="342900" y="5954713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(4-methoxyphenyl)(p-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tolyl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" name="Group 10"/>
          <p:cNvGrpSpPr>
            <a:grpSpLocks noGrp="1" noUngrp="1" noChangeAspect="1"/>
          </p:cNvGrpSpPr>
          <p:nvPr/>
        </p:nvGrpSpPr>
        <p:grpSpPr>
          <a:xfrm>
            <a:off x="4267200" y="101130"/>
            <a:ext cx="2133600" cy="1480020"/>
            <a:chOff x="4686300" y="3551238"/>
            <a:chExt cx="4114800" cy="2854325"/>
          </a:xfrm>
        </p:grpSpPr>
        <p:pic>
          <p:nvPicPr>
            <p:cNvPr id="12" name="Picture 11" descr="29_CV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4686300" y="3551238"/>
              <a:ext cx="4114800" cy="2498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ectangle 12"/>
            <p:cNvSpPr/>
            <p:nvPr/>
          </p:nvSpPr>
          <p:spPr>
            <a:xfrm>
              <a:off x="4686300" y="6062663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(E)-1,3-di-p-tolylallylium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7" name="Group 16"/>
          <p:cNvGrpSpPr>
            <a:grpSpLocks noGrp="1" noUngrp="1" noChangeAspect="1"/>
          </p:cNvGrpSpPr>
          <p:nvPr/>
        </p:nvGrpSpPr>
        <p:grpSpPr>
          <a:xfrm>
            <a:off x="6629401" y="111772"/>
            <a:ext cx="1981200" cy="1316978"/>
            <a:chOff x="4686300" y="523875"/>
            <a:chExt cx="4114800" cy="2735263"/>
          </a:xfrm>
        </p:grpSpPr>
        <p:pic>
          <p:nvPicPr>
            <p:cNvPr id="18" name="Picture 17" descr="2_CV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4686300" y="523875"/>
              <a:ext cx="4114800" cy="2379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4686300" y="291623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(3,5-difluorophenyl)(3-fluorophenyl)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0" name="Group 19"/>
          <p:cNvGrpSpPr>
            <a:grpSpLocks noGrp="1" noUngrp="1" noChangeAspect="1"/>
          </p:cNvGrpSpPr>
          <p:nvPr/>
        </p:nvGrpSpPr>
        <p:grpSpPr>
          <a:xfrm>
            <a:off x="99082" y="209550"/>
            <a:ext cx="1958318" cy="1066800"/>
            <a:chOff x="4686300" y="771525"/>
            <a:chExt cx="4114800" cy="2241550"/>
          </a:xfrm>
        </p:grpSpPr>
        <p:pic>
          <p:nvPicPr>
            <p:cNvPr id="21" name="Picture 20" descr="26_CV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4686300" y="771525"/>
              <a:ext cx="4114800" cy="1885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Rectangle 21"/>
            <p:cNvSpPr/>
            <p:nvPr/>
          </p:nvSpPr>
          <p:spPr>
            <a:xfrm>
              <a:off x="4686300" y="2670175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(4-methoxyphenyl)(phenyl)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3" name="Group 22"/>
          <p:cNvGrpSpPr>
            <a:grpSpLocks noGrp="1" noUngrp="1" noChangeAspect="1"/>
          </p:cNvGrpSpPr>
          <p:nvPr/>
        </p:nvGrpSpPr>
        <p:grpSpPr>
          <a:xfrm>
            <a:off x="152400" y="1697037"/>
            <a:ext cx="2286000" cy="1484313"/>
            <a:chOff x="342900" y="555625"/>
            <a:chExt cx="4114800" cy="2671763"/>
          </a:xfrm>
        </p:grpSpPr>
        <p:pic>
          <p:nvPicPr>
            <p:cNvPr id="24" name="Picture 23" descr="32_CV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342900" y="555625"/>
              <a:ext cx="4114800" cy="23161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Rectangle 24"/>
            <p:cNvSpPr/>
            <p:nvPr/>
          </p:nvSpPr>
          <p:spPr>
            <a:xfrm>
              <a:off x="342900" y="288448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(4-methoxyphenyl)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r>
                <a:rPr lang="en-US" sz="1200" dirty="0" smtClean="0"/>
                <a:t> 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6" name="Group 25"/>
          <p:cNvGrpSpPr>
            <a:grpSpLocks noGrp="1" noUngrp="1" noChangeAspect="1"/>
          </p:cNvGrpSpPr>
          <p:nvPr/>
        </p:nvGrpSpPr>
        <p:grpSpPr>
          <a:xfrm>
            <a:off x="2819400" y="1657350"/>
            <a:ext cx="2464479" cy="1600200"/>
            <a:chOff x="4686300" y="555625"/>
            <a:chExt cx="4114800" cy="2671763"/>
          </a:xfrm>
        </p:grpSpPr>
        <p:pic>
          <p:nvPicPr>
            <p:cNvPr id="27" name="Picture 26" descr="34_CV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4686300" y="555625"/>
              <a:ext cx="4114800" cy="23161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Rectangle 27"/>
            <p:cNvSpPr/>
            <p:nvPr/>
          </p:nvSpPr>
          <p:spPr>
            <a:xfrm>
              <a:off x="4686300" y="288448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(4-methoxyphenyl)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9" name="Group 28"/>
          <p:cNvGrpSpPr>
            <a:grpSpLocks noGrp="1" noUngrp="1" noChangeAspect="1"/>
          </p:cNvGrpSpPr>
          <p:nvPr/>
        </p:nvGrpSpPr>
        <p:grpSpPr>
          <a:xfrm>
            <a:off x="5599635" y="1733550"/>
            <a:ext cx="2629965" cy="1524000"/>
            <a:chOff x="342900" y="3786188"/>
            <a:chExt cx="4114800" cy="2384425"/>
          </a:xfrm>
        </p:grpSpPr>
        <p:pic>
          <p:nvPicPr>
            <p:cNvPr id="30" name="Picture 29" descr="35_CV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342900" y="3786188"/>
              <a:ext cx="4114800" cy="2028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Rectangle 30"/>
            <p:cNvSpPr/>
            <p:nvPr/>
          </p:nvSpPr>
          <p:spPr>
            <a:xfrm>
              <a:off x="342900" y="5827713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(2,3-dihydrobenzofuran-5-yl)(4-methoxyphenyl)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2" name="Group 31"/>
          <p:cNvGrpSpPr>
            <a:grpSpLocks noGrp="1" noUngrp="1" noChangeAspect="1"/>
          </p:cNvGrpSpPr>
          <p:nvPr/>
        </p:nvGrpSpPr>
        <p:grpSpPr>
          <a:xfrm>
            <a:off x="24949" y="3486149"/>
            <a:ext cx="2184851" cy="1421165"/>
            <a:chOff x="4686300" y="3640138"/>
            <a:chExt cx="4114800" cy="2676525"/>
          </a:xfrm>
        </p:grpSpPr>
        <p:pic>
          <p:nvPicPr>
            <p:cNvPr id="33" name="Picture 32" descr="36_CV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4686300" y="3640138"/>
              <a:ext cx="4114800" cy="2320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Rectangle 33"/>
            <p:cNvSpPr/>
            <p:nvPr/>
          </p:nvSpPr>
          <p:spPr>
            <a:xfrm>
              <a:off x="4686300" y="5973763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(2,3-dihydrobenzofuran-5-yl)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5" name="Group 34"/>
          <p:cNvGrpSpPr>
            <a:grpSpLocks noGrp="1" noUngrp="1" noChangeAspect="1"/>
          </p:cNvGrpSpPr>
          <p:nvPr/>
        </p:nvGrpSpPr>
        <p:grpSpPr>
          <a:xfrm>
            <a:off x="2209799" y="3333750"/>
            <a:ext cx="2670779" cy="1600200"/>
            <a:chOff x="342900" y="658813"/>
            <a:chExt cx="4114800" cy="2465387"/>
          </a:xfrm>
        </p:grpSpPr>
        <p:pic>
          <p:nvPicPr>
            <p:cNvPr id="36" name="Picture 35" descr="37_CV.jpg"/>
            <p:cNvPicPr>
              <a:picLocks noRot="1" noChangeAspect="1" noMove="1" noResize="1"/>
            </p:cNvPicPr>
            <p:nvPr isPhoto="1"/>
          </p:nvPicPr>
          <p:blipFill>
            <a:blip r:embed="rId10" cstate="print">
              <a:lum/>
            </a:blip>
            <a:stretch>
              <a:fillRect/>
            </a:stretch>
          </p:blipFill>
          <p:spPr>
            <a:xfrm>
              <a:off x="342900" y="658813"/>
              <a:ext cx="4114800" cy="21097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Rectangle 36"/>
            <p:cNvSpPr/>
            <p:nvPr/>
          </p:nvSpPr>
          <p:spPr>
            <a:xfrm>
              <a:off x="342900" y="278130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(E)-1,3-bis(4-methoxyphenyl)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8" name="Group 37"/>
          <p:cNvGrpSpPr>
            <a:grpSpLocks noGrp="1" noUngrp="1" noChangeAspect="1"/>
          </p:cNvGrpSpPr>
          <p:nvPr/>
        </p:nvGrpSpPr>
        <p:grpSpPr>
          <a:xfrm>
            <a:off x="4876831" y="3333750"/>
            <a:ext cx="1828769" cy="1569602"/>
            <a:chOff x="5159375" y="457200"/>
            <a:chExt cx="3167063" cy="2718238"/>
          </a:xfrm>
        </p:grpSpPr>
        <p:pic>
          <p:nvPicPr>
            <p:cNvPr id="39" name="Picture 38" descr="38_CV.jpg"/>
            <p:cNvPicPr>
              <a:picLocks noRot="1" noChangeAspect="1" noMove="1" noResize="1"/>
            </p:cNvPicPr>
            <p:nvPr isPhoto="1"/>
          </p:nvPicPr>
          <p:blipFill>
            <a:blip r:embed="rId11" cstate="print">
              <a:lum/>
            </a:blip>
            <a:stretch>
              <a:fillRect/>
            </a:stretch>
          </p:blipFill>
          <p:spPr>
            <a:xfrm>
              <a:off x="5159375" y="457200"/>
              <a:ext cx="316706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Rectangle 39"/>
            <p:cNvSpPr/>
            <p:nvPr/>
          </p:nvSpPr>
          <p:spPr>
            <a:xfrm>
              <a:off x="5159375" y="2832538"/>
              <a:ext cx="316706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(Z)-3-benzylidene-1-methyl-3H-indol-1-ium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1" name="Group 40"/>
          <p:cNvGrpSpPr>
            <a:grpSpLocks noGrp="1" noUngrp="1" noChangeAspect="1"/>
          </p:cNvGrpSpPr>
          <p:nvPr/>
        </p:nvGrpSpPr>
        <p:grpSpPr>
          <a:xfrm>
            <a:off x="6914617" y="3367054"/>
            <a:ext cx="2051331" cy="1676400"/>
            <a:chOff x="396875" y="3543300"/>
            <a:chExt cx="4006850" cy="3274501"/>
          </a:xfrm>
        </p:grpSpPr>
        <p:pic>
          <p:nvPicPr>
            <p:cNvPr id="42" name="Picture 41" descr="3_CV.jpg"/>
            <p:cNvPicPr>
              <a:picLocks noRot="1" noChangeAspect="1" noMove="1" noResize="1"/>
            </p:cNvPicPr>
            <p:nvPr isPhoto="1"/>
          </p:nvPicPr>
          <p:blipFill>
            <a:blip r:embed="rId12" cstate="print">
              <a:lum/>
            </a:blip>
            <a:stretch>
              <a:fillRect/>
            </a:stretch>
          </p:blipFill>
          <p:spPr>
            <a:xfrm>
              <a:off x="396875" y="3543300"/>
              <a:ext cx="400685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Rectangle 42"/>
            <p:cNvSpPr/>
            <p:nvPr/>
          </p:nvSpPr>
          <p:spPr>
            <a:xfrm>
              <a:off x="396875" y="6474900"/>
              <a:ext cx="4006850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(3-fluorophenyl)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 noGrp="1" noUngrp="1" noChangeAspect="1"/>
          </p:cNvGrpSpPr>
          <p:nvPr/>
        </p:nvGrpSpPr>
        <p:grpSpPr>
          <a:xfrm>
            <a:off x="457200" y="285750"/>
            <a:ext cx="2057400" cy="1270001"/>
            <a:chOff x="342900" y="3708400"/>
            <a:chExt cx="4114800" cy="2540000"/>
          </a:xfrm>
        </p:grpSpPr>
        <p:pic>
          <p:nvPicPr>
            <p:cNvPr id="3" name="Picture 2" descr="40_CV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342900" y="3708400"/>
              <a:ext cx="4114800" cy="218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Rectangle 3"/>
            <p:cNvSpPr/>
            <p:nvPr/>
          </p:nvSpPr>
          <p:spPr>
            <a:xfrm>
              <a:off x="342900" y="590550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(Z)-1-methyl-3-(4-methylbenzylidene)-3H-indol-1-ium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" name="Group 4"/>
          <p:cNvGrpSpPr>
            <a:grpSpLocks noGrp="1" noUngrp="1" noChangeAspect="1"/>
          </p:cNvGrpSpPr>
          <p:nvPr/>
        </p:nvGrpSpPr>
        <p:grpSpPr>
          <a:xfrm>
            <a:off x="3200400" y="57150"/>
            <a:ext cx="2133600" cy="1842191"/>
            <a:chOff x="5081588" y="3543300"/>
            <a:chExt cx="3324225" cy="2870200"/>
          </a:xfrm>
        </p:grpSpPr>
        <p:pic>
          <p:nvPicPr>
            <p:cNvPr id="6" name="Picture 5" descr="42_CV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5081588" y="3543300"/>
              <a:ext cx="332422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ectangle 6"/>
            <p:cNvSpPr/>
            <p:nvPr/>
          </p:nvSpPr>
          <p:spPr>
            <a:xfrm>
              <a:off x="5081588" y="6070600"/>
              <a:ext cx="33242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(Z)-3-(4-methoxybenzylidene)-1-methyl-3H-indol-1-ium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8" name="Group 7"/>
          <p:cNvGrpSpPr>
            <a:grpSpLocks noGrp="1" noUngrp="1" noChangeAspect="1"/>
          </p:cNvGrpSpPr>
          <p:nvPr/>
        </p:nvGrpSpPr>
        <p:grpSpPr>
          <a:xfrm>
            <a:off x="5618897" y="76200"/>
            <a:ext cx="2991703" cy="1809750"/>
            <a:chOff x="342900" y="542925"/>
            <a:chExt cx="4114800" cy="2489138"/>
          </a:xfrm>
        </p:grpSpPr>
        <p:pic>
          <p:nvPicPr>
            <p:cNvPr id="9" name="Picture 8" descr="43_CV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342900" y="542925"/>
              <a:ext cx="4114800" cy="2343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/>
          </p:nvSpPr>
          <p:spPr>
            <a:xfrm>
              <a:off x="342900" y="2689164"/>
              <a:ext cx="411480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(4-(phenyl(2,2,2-trifluoroethyl)amino)phenyl)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" name="Group 10"/>
          <p:cNvGrpSpPr>
            <a:grpSpLocks noGrp="1" noUngrp="1" noChangeAspect="1"/>
          </p:cNvGrpSpPr>
          <p:nvPr/>
        </p:nvGrpSpPr>
        <p:grpSpPr>
          <a:xfrm>
            <a:off x="152400" y="2114550"/>
            <a:ext cx="2743200" cy="1447800"/>
            <a:chOff x="4686300" y="741363"/>
            <a:chExt cx="4114800" cy="2171700"/>
          </a:xfrm>
        </p:grpSpPr>
        <p:pic>
          <p:nvPicPr>
            <p:cNvPr id="12" name="Picture 11" descr="46_CV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4686300" y="741363"/>
              <a:ext cx="4114800" cy="1944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ectangle 12"/>
            <p:cNvSpPr/>
            <p:nvPr/>
          </p:nvSpPr>
          <p:spPr>
            <a:xfrm>
              <a:off x="4686300" y="2570163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(4-(methyl(2,2,2-trifluoroethyl)amino)phenyl)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4" name="Group 13"/>
          <p:cNvGrpSpPr>
            <a:grpSpLocks noGrp="1" noUngrp="1" noChangeAspect="1"/>
          </p:cNvGrpSpPr>
          <p:nvPr/>
        </p:nvGrpSpPr>
        <p:grpSpPr>
          <a:xfrm>
            <a:off x="2971800" y="1980554"/>
            <a:ext cx="3124200" cy="1810396"/>
            <a:chOff x="342900" y="3608388"/>
            <a:chExt cx="4114800" cy="2384425"/>
          </a:xfrm>
        </p:grpSpPr>
        <p:pic>
          <p:nvPicPr>
            <p:cNvPr id="15" name="Picture 14" descr="48_CV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342900" y="3608388"/>
              <a:ext cx="4114800" cy="2384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tangle 15"/>
            <p:cNvSpPr/>
            <p:nvPr/>
          </p:nvSpPr>
          <p:spPr>
            <a:xfrm>
              <a:off x="342900" y="561560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77500" lnSpcReduction="20000"/>
            </a:bodyPr>
            <a:lstStyle/>
            <a:p>
              <a:pPr algn="ctr"/>
              <a:r>
                <a:rPr lang="en-US" sz="16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(4-(</a:t>
              </a:r>
              <a:r>
                <a:rPr lang="en-US" sz="1600" dirty="0" err="1" smtClean="0">
                  <a:latin typeface="Times New Roman" pitchFamily="18" charset="0"/>
                  <a:cs typeface="Times New Roman" pitchFamily="18" charset="0"/>
                </a:rPr>
                <a:t>diphenylamino</a:t>
              </a:r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)phenyl)</a:t>
              </a:r>
              <a:r>
                <a:rPr lang="en-US" sz="16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7" name="Group 16"/>
          <p:cNvGrpSpPr>
            <a:grpSpLocks noGrp="1" noUngrp="1" noChangeAspect="1"/>
          </p:cNvGrpSpPr>
          <p:nvPr/>
        </p:nvGrpSpPr>
        <p:grpSpPr>
          <a:xfrm>
            <a:off x="6629400" y="1962150"/>
            <a:ext cx="2059592" cy="1524000"/>
            <a:chOff x="4702175" y="3543300"/>
            <a:chExt cx="4083050" cy="3021263"/>
          </a:xfrm>
        </p:grpSpPr>
        <p:pic>
          <p:nvPicPr>
            <p:cNvPr id="18" name="Picture 17" descr="4_CV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4702175" y="3543300"/>
              <a:ext cx="408305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4702175" y="6221664"/>
              <a:ext cx="408305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(3,5-difluorophenyl)(phenyl)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0" name="Group 19"/>
          <p:cNvGrpSpPr>
            <a:grpSpLocks noGrp="1" noUngrp="1" noChangeAspect="1"/>
          </p:cNvGrpSpPr>
          <p:nvPr/>
        </p:nvGrpSpPr>
        <p:grpSpPr>
          <a:xfrm>
            <a:off x="3581400" y="3674999"/>
            <a:ext cx="2514600" cy="1411351"/>
            <a:chOff x="385763" y="457200"/>
            <a:chExt cx="5113826" cy="2870200"/>
          </a:xfrm>
        </p:grpSpPr>
        <p:pic>
          <p:nvPicPr>
            <p:cNvPr id="21" name="Picture 20" descr="51_CV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385763" y="457200"/>
              <a:ext cx="40290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Rectangle 21"/>
            <p:cNvSpPr/>
            <p:nvPr/>
          </p:nvSpPr>
          <p:spPr>
            <a:xfrm>
              <a:off x="385763" y="2868276"/>
              <a:ext cx="5113826" cy="459124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(E)-1,2-dimethyl-3-(4-methylbenzylidene)-3H-indol-1-ium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3" name="Group 22"/>
          <p:cNvGrpSpPr>
            <a:grpSpLocks noGrp="1" noUngrp="1" noChangeAspect="1"/>
          </p:cNvGrpSpPr>
          <p:nvPr/>
        </p:nvGrpSpPr>
        <p:grpSpPr>
          <a:xfrm>
            <a:off x="6629400" y="3467100"/>
            <a:ext cx="2059391" cy="1543050"/>
            <a:chOff x="4827588" y="457200"/>
            <a:chExt cx="3830637" cy="2870200"/>
          </a:xfrm>
        </p:grpSpPr>
        <p:pic>
          <p:nvPicPr>
            <p:cNvPr id="24" name="Picture 23" descr="52_CV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4827588" y="457200"/>
              <a:ext cx="383063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Rectangle 24"/>
            <p:cNvSpPr/>
            <p:nvPr/>
          </p:nvSpPr>
          <p:spPr>
            <a:xfrm>
              <a:off x="4827588" y="2984500"/>
              <a:ext cx="3830637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(E)-2-methyl-3-(4-methylbenzylidene)-3H-indol-1-ium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6" name="Group 25"/>
          <p:cNvGrpSpPr>
            <a:grpSpLocks noGrp="1" noUngrp="1" noChangeAspect="1"/>
          </p:cNvGrpSpPr>
          <p:nvPr/>
        </p:nvGrpSpPr>
        <p:grpSpPr>
          <a:xfrm>
            <a:off x="152400" y="3714750"/>
            <a:ext cx="2519363" cy="1348132"/>
            <a:chOff x="4686300" y="3876675"/>
            <a:chExt cx="4114800" cy="2201863"/>
          </a:xfrm>
        </p:grpSpPr>
        <p:pic>
          <p:nvPicPr>
            <p:cNvPr id="27" name="Picture 26" descr="50_CV.jpg"/>
            <p:cNvPicPr>
              <a:picLocks noRot="1" noChangeAspect="1" noMove="1" noResize="1"/>
            </p:cNvPicPr>
            <p:nvPr isPhoto="1"/>
          </p:nvPicPr>
          <p:blipFill>
            <a:blip r:embed="rId10" cstate="print">
              <a:lum/>
            </a:blip>
            <a:stretch>
              <a:fillRect/>
            </a:stretch>
          </p:blipFill>
          <p:spPr>
            <a:xfrm>
              <a:off x="4686300" y="3876675"/>
              <a:ext cx="4114800" cy="1846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Rectangle 27"/>
            <p:cNvSpPr/>
            <p:nvPr/>
          </p:nvSpPr>
          <p:spPr>
            <a:xfrm>
              <a:off x="4686300" y="573563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(E)-3-benzylidene-1,2-dimethyl-3H-indol-1-ium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 noGrp="1" noUngrp="1" noChangeAspect="1"/>
          </p:cNvGrpSpPr>
          <p:nvPr/>
        </p:nvGrpSpPr>
        <p:grpSpPr>
          <a:xfrm>
            <a:off x="76200" y="49760"/>
            <a:ext cx="2743200" cy="1683790"/>
            <a:chOff x="403225" y="3543300"/>
            <a:chExt cx="3994150" cy="2870200"/>
          </a:xfrm>
        </p:grpSpPr>
        <p:pic>
          <p:nvPicPr>
            <p:cNvPr id="8" name="Picture 7" descr="54_CV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403225" y="3543300"/>
              <a:ext cx="399415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Rectangle 8"/>
            <p:cNvSpPr/>
            <p:nvPr/>
          </p:nvSpPr>
          <p:spPr>
            <a:xfrm>
              <a:off x="403225" y="6070600"/>
              <a:ext cx="39941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(4-morpholinophenyl)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Group 12"/>
          <p:cNvGrpSpPr>
            <a:grpSpLocks noGrp="1" noUngrp="1" noChangeAspect="1"/>
          </p:cNvGrpSpPr>
          <p:nvPr/>
        </p:nvGrpSpPr>
        <p:grpSpPr>
          <a:xfrm>
            <a:off x="2895600" y="57150"/>
            <a:ext cx="3276600" cy="1300691"/>
            <a:chOff x="4686300" y="4002088"/>
            <a:chExt cx="4114800" cy="1951037"/>
          </a:xfrm>
        </p:grpSpPr>
        <p:pic>
          <p:nvPicPr>
            <p:cNvPr id="11" name="Picture 10" descr="55_CV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4686300" y="4002088"/>
              <a:ext cx="4114800" cy="15954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Rectangle 11"/>
            <p:cNvSpPr/>
            <p:nvPr/>
          </p:nvSpPr>
          <p:spPr>
            <a:xfrm>
              <a:off x="4686300" y="5610225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(4-(methyl(phenyl)amino)phenyl)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" name="Group 16"/>
          <p:cNvGrpSpPr>
            <a:grpSpLocks noGrp="1" noUngrp="1" noChangeAspect="1"/>
          </p:cNvGrpSpPr>
          <p:nvPr/>
        </p:nvGrpSpPr>
        <p:grpSpPr>
          <a:xfrm>
            <a:off x="6400800" y="133350"/>
            <a:ext cx="2619122" cy="1535464"/>
            <a:chOff x="285221" y="457200"/>
            <a:chExt cx="4110567" cy="3213101"/>
          </a:xfrm>
        </p:grpSpPr>
        <p:pic>
          <p:nvPicPr>
            <p:cNvPr id="18" name="Picture 17" descr="56_CV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404813" y="457200"/>
              <a:ext cx="39909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285221" y="3327400"/>
              <a:ext cx="3990975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(E)-5-benzyl-2,2,3-trimethyl-1-((E)-3-(4-nitrophenyl)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allylidene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)-4-oxoimidazolidin-1-ium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" name="Group 19"/>
          <p:cNvGrpSpPr>
            <a:grpSpLocks noGrp="1" noUngrp="1" noChangeAspect="1"/>
          </p:cNvGrpSpPr>
          <p:nvPr/>
        </p:nvGrpSpPr>
        <p:grpSpPr>
          <a:xfrm>
            <a:off x="0" y="1733550"/>
            <a:ext cx="2765425" cy="2514600"/>
            <a:chOff x="5246688" y="457200"/>
            <a:chExt cx="2765425" cy="3352800"/>
          </a:xfrm>
        </p:grpSpPr>
        <p:pic>
          <p:nvPicPr>
            <p:cNvPr id="21" name="Picture 20" descr="57_CV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5475288" y="457200"/>
              <a:ext cx="253682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Rectangle 21"/>
            <p:cNvSpPr/>
            <p:nvPr/>
          </p:nvSpPr>
          <p:spPr>
            <a:xfrm>
              <a:off x="5246688" y="3505200"/>
              <a:ext cx="1524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(E)-5-benzyl-3-methyl-4-oxo-1-((E)-3-phenylallylidene)-2-((E)-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styryl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)imidazolidin-1-ium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Group 22"/>
          <p:cNvGrpSpPr>
            <a:grpSpLocks noGrp="1" noUngrp="1" noChangeAspect="1"/>
          </p:cNvGrpSpPr>
          <p:nvPr/>
        </p:nvGrpSpPr>
        <p:grpSpPr>
          <a:xfrm>
            <a:off x="3733800" y="1352550"/>
            <a:ext cx="2438400" cy="1292600"/>
            <a:chOff x="342900" y="3648075"/>
            <a:chExt cx="4114800" cy="2659063"/>
          </a:xfrm>
        </p:grpSpPr>
        <p:pic>
          <p:nvPicPr>
            <p:cNvPr id="24" name="Picture 23" descr="59_CV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342900" y="3648075"/>
              <a:ext cx="4114800" cy="2303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Rectangle 24"/>
            <p:cNvSpPr/>
            <p:nvPr/>
          </p:nvSpPr>
          <p:spPr>
            <a:xfrm>
              <a:off x="342900" y="596423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(Z)-1-methyl-3-((1-methyl-1H-indol-3-yl)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6" name="Group 25"/>
          <p:cNvGrpSpPr>
            <a:grpSpLocks noGrp="1" noUngrp="1" noChangeAspect="1"/>
          </p:cNvGrpSpPr>
          <p:nvPr/>
        </p:nvGrpSpPr>
        <p:grpSpPr>
          <a:xfrm>
            <a:off x="6400800" y="1885950"/>
            <a:ext cx="2209800" cy="1219200"/>
            <a:chOff x="342900" y="692150"/>
            <a:chExt cx="4114800" cy="2400300"/>
          </a:xfrm>
        </p:grpSpPr>
        <p:pic>
          <p:nvPicPr>
            <p:cNvPr id="27" name="Picture 26" descr="5_CV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342900" y="692150"/>
              <a:ext cx="4114800" cy="204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Rectangle 27"/>
            <p:cNvSpPr/>
            <p:nvPr/>
          </p:nvSpPr>
          <p:spPr>
            <a:xfrm>
              <a:off x="342900" y="274955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phenyl(4-(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trifluoromethyl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9" name="Group 28"/>
          <p:cNvGrpSpPr>
            <a:grpSpLocks noGrp="1" noUngrp="1" noChangeAspect="1"/>
          </p:cNvGrpSpPr>
          <p:nvPr/>
        </p:nvGrpSpPr>
        <p:grpSpPr>
          <a:xfrm>
            <a:off x="3429000" y="2876550"/>
            <a:ext cx="3200400" cy="2096805"/>
            <a:chOff x="186784" y="457200"/>
            <a:chExt cx="4380850" cy="2870200"/>
          </a:xfrm>
        </p:grpSpPr>
        <p:pic>
          <p:nvPicPr>
            <p:cNvPr id="30" name="Picture 29" descr="61_CV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1125538" y="457200"/>
              <a:ext cx="254952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Rectangle 30"/>
            <p:cNvSpPr/>
            <p:nvPr/>
          </p:nvSpPr>
          <p:spPr>
            <a:xfrm>
              <a:off x="186784" y="2984500"/>
              <a:ext cx="438085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(E)-5-benzyl-1-((E)-3-(4-cyanophenyl)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allylidene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)-2,2,3-trimethyl-4-oxoimidazolidin-1-ium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2" name="Group 31"/>
          <p:cNvGrpSpPr>
            <a:grpSpLocks noGrp="1" noUngrp="1" noChangeAspect="1"/>
          </p:cNvGrpSpPr>
          <p:nvPr/>
        </p:nvGrpSpPr>
        <p:grpSpPr>
          <a:xfrm>
            <a:off x="6400800" y="3257550"/>
            <a:ext cx="2743200" cy="1676400"/>
            <a:chOff x="4876800" y="457200"/>
            <a:chExt cx="4745111" cy="2899789"/>
          </a:xfrm>
        </p:grpSpPr>
        <p:pic>
          <p:nvPicPr>
            <p:cNvPr id="33" name="Picture 32" descr="62_CV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4876800" y="457200"/>
              <a:ext cx="37338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Rectangle 33"/>
            <p:cNvSpPr/>
            <p:nvPr/>
          </p:nvSpPr>
          <p:spPr>
            <a:xfrm>
              <a:off x="4876800" y="2984500"/>
              <a:ext cx="4745111" cy="37248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(E)-5-benzyl-2,2,3-trimethyl-1-((E)-3-(3-nitrophenyl)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allylidene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)-4-oxoimidazolidin-1-ium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5" name="Group 34"/>
          <p:cNvGrpSpPr>
            <a:grpSpLocks noGrp="1" noUngrp="1" noChangeAspect="1"/>
          </p:cNvGrpSpPr>
          <p:nvPr/>
        </p:nvGrpSpPr>
        <p:grpSpPr>
          <a:xfrm>
            <a:off x="1143000" y="2343150"/>
            <a:ext cx="2743200" cy="2590800"/>
            <a:chOff x="5264103" y="3543300"/>
            <a:chExt cx="3155030" cy="2979750"/>
          </a:xfrm>
        </p:grpSpPr>
        <p:pic>
          <p:nvPicPr>
            <p:cNvPr id="36" name="Picture 35" descr="60_CV.jpg"/>
            <p:cNvPicPr>
              <a:picLocks noRot="1" noChangeAspect="1" noMove="1" noResize="1"/>
            </p:cNvPicPr>
            <p:nvPr isPhoto="1"/>
          </p:nvPicPr>
          <p:blipFill>
            <a:blip r:embed="rId10" cstate="print">
              <a:lum/>
            </a:blip>
            <a:stretch>
              <a:fillRect/>
            </a:stretch>
          </p:blipFill>
          <p:spPr>
            <a:xfrm>
              <a:off x="5702300" y="3543300"/>
              <a:ext cx="20828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" name="Rectangle 36"/>
            <p:cNvSpPr/>
            <p:nvPr/>
          </p:nvSpPr>
          <p:spPr>
            <a:xfrm>
              <a:off x="5264103" y="6180150"/>
              <a:ext cx="315503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(E)-2,2,3-trimethyl-4-oxo-5-((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perfluorophenyl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)methyl)-1-((E)-3-phenylallylidene)imidazolidin-1-ium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 noGrp="1" noUngrp="1" noChangeAspect="1"/>
          </p:cNvGrpSpPr>
          <p:nvPr/>
        </p:nvGrpSpPr>
        <p:grpSpPr>
          <a:xfrm>
            <a:off x="76200" y="271550"/>
            <a:ext cx="2252476" cy="1309600"/>
            <a:chOff x="342900" y="3781425"/>
            <a:chExt cx="4114800" cy="2392363"/>
          </a:xfrm>
        </p:grpSpPr>
        <p:pic>
          <p:nvPicPr>
            <p:cNvPr id="3" name="Picture 2" descr="63_CV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342900" y="3781425"/>
              <a:ext cx="4114800" cy="20367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Rectangle 3"/>
            <p:cNvSpPr/>
            <p:nvPr/>
          </p:nvSpPr>
          <p:spPr>
            <a:xfrm>
              <a:off x="342900" y="583088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(Z)-3-(4-(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dimethylamino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benzylidene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)-1-methyl-3H-indol-1-ium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" name="Group 4"/>
          <p:cNvGrpSpPr>
            <a:grpSpLocks noGrp="1" noUngrp="1" noChangeAspect="1"/>
          </p:cNvGrpSpPr>
          <p:nvPr/>
        </p:nvGrpSpPr>
        <p:grpSpPr>
          <a:xfrm>
            <a:off x="2362200" y="76200"/>
            <a:ext cx="2514600" cy="2479787"/>
            <a:chOff x="5548313" y="3543300"/>
            <a:chExt cx="2983200" cy="2941900"/>
          </a:xfrm>
        </p:grpSpPr>
        <p:pic>
          <p:nvPicPr>
            <p:cNvPr id="6" name="Picture 5" descr="65_CV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5548313" y="3543300"/>
              <a:ext cx="23907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ectangle 6"/>
            <p:cNvSpPr/>
            <p:nvPr/>
          </p:nvSpPr>
          <p:spPr>
            <a:xfrm>
              <a:off x="5548313" y="6232700"/>
              <a:ext cx="2983200" cy="2525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(Z)-5-methoxy-3-((5-methoxy-1-methyl-1H-indol-3-yl)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)-1-methyl-3H-indol-1-ium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8" name="Group 7"/>
          <p:cNvGrpSpPr>
            <a:grpSpLocks noGrp="1" noUngrp="1" noChangeAspect="1"/>
          </p:cNvGrpSpPr>
          <p:nvPr/>
        </p:nvGrpSpPr>
        <p:grpSpPr>
          <a:xfrm>
            <a:off x="4572000" y="145117"/>
            <a:ext cx="2590800" cy="2350434"/>
            <a:chOff x="1006475" y="457200"/>
            <a:chExt cx="3383077" cy="3069205"/>
          </a:xfrm>
        </p:grpSpPr>
        <p:pic>
          <p:nvPicPr>
            <p:cNvPr id="9" name="Picture 8" descr="66_CV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1006475" y="457200"/>
              <a:ext cx="278606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/>
          </p:nvSpPr>
          <p:spPr>
            <a:xfrm>
              <a:off x="1404484" y="3227898"/>
              <a:ext cx="2985068" cy="298507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(E)-5-benzyl-2,2,3-trimethyl-4-oxo-1-((E)-3-(p-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tolyl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allylidene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)imidazolidin-1-ium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" name="Group 10"/>
          <p:cNvGrpSpPr>
            <a:grpSpLocks noGrp="1" noUngrp="1" noChangeAspect="1"/>
          </p:cNvGrpSpPr>
          <p:nvPr/>
        </p:nvGrpSpPr>
        <p:grpSpPr>
          <a:xfrm>
            <a:off x="6781800" y="285750"/>
            <a:ext cx="2286000" cy="1749826"/>
            <a:chOff x="4868863" y="457200"/>
            <a:chExt cx="3749675" cy="2870200"/>
          </a:xfrm>
        </p:grpSpPr>
        <p:pic>
          <p:nvPicPr>
            <p:cNvPr id="12" name="Picture 11" descr="67_CV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4868863" y="457200"/>
              <a:ext cx="374967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ectangle 12"/>
            <p:cNvSpPr/>
            <p:nvPr/>
          </p:nvSpPr>
          <p:spPr>
            <a:xfrm>
              <a:off x="4868863" y="2984500"/>
              <a:ext cx="374967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(4-(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dimethylamino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4" name="Group 13"/>
          <p:cNvGrpSpPr>
            <a:grpSpLocks noGrp="1" noUngrp="1" noChangeAspect="1"/>
          </p:cNvGrpSpPr>
          <p:nvPr/>
        </p:nvGrpSpPr>
        <p:grpSpPr>
          <a:xfrm>
            <a:off x="76200" y="2190751"/>
            <a:ext cx="1761832" cy="1526359"/>
            <a:chOff x="4791073" y="457200"/>
            <a:chExt cx="3903665" cy="3381933"/>
          </a:xfrm>
        </p:grpSpPr>
        <p:pic>
          <p:nvPicPr>
            <p:cNvPr id="15" name="Picture 14" descr="6_CV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4791075" y="457200"/>
              <a:ext cx="390366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tangle 15"/>
            <p:cNvSpPr/>
            <p:nvPr/>
          </p:nvSpPr>
          <p:spPr>
            <a:xfrm>
              <a:off x="4791073" y="3496233"/>
              <a:ext cx="390366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(3-fluorophenyl)(phenyl)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8" name="Group 9"/>
          <p:cNvGrpSpPr>
            <a:grpSpLocks noGrp="1" noUngrp="1" noChangeAspect="1"/>
          </p:cNvGrpSpPr>
          <p:nvPr/>
        </p:nvGrpSpPr>
        <p:grpSpPr>
          <a:xfrm>
            <a:off x="1295400" y="2724150"/>
            <a:ext cx="2667000" cy="2236099"/>
            <a:chOff x="426131" y="3543300"/>
            <a:chExt cx="3587751" cy="3008086"/>
          </a:xfrm>
        </p:grpSpPr>
        <p:pic>
          <p:nvPicPr>
            <p:cNvPr id="39" name="Picture 38" descr="70_CV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1246188" y="3543300"/>
              <a:ext cx="230822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Rectangle 39"/>
            <p:cNvSpPr/>
            <p:nvPr/>
          </p:nvSpPr>
          <p:spPr>
            <a:xfrm>
              <a:off x="426131" y="6208486"/>
              <a:ext cx="3587751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(E)-5-((1H-indol-3-yl)methyl)-2,2,3-trimethyl-4-oxo-1-((E)-3-phenylallylidene)imidazolidin-1-ium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1" name="Group 12"/>
          <p:cNvGrpSpPr>
            <a:grpSpLocks noGrp="1" noUngrp="1" noChangeAspect="1"/>
          </p:cNvGrpSpPr>
          <p:nvPr/>
        </p:nvGrpSpPr>
        <p:grpSpPr>
          <a:xfrm>
            <a:off x="3776283" y="2876550"/>
            <a:ext cx="2014917" cy="1980188"/>
            <a:chOff x="5283200" y="3543300"/>
            <a:chExt cx="3035808" cy="2983483"/>
          </a:xfrm>
        </p:grpSpPr>
        <p:pic>
          <p:nvPicPr>
            <p:cNvPr id="42" name="Picture 41" descr="72_CV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5283200" y="3543300"/>
              <a:ext cx="29210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Rectangle 42"/>
            <p:cNvSpPr/>
            <p:nvPr/>
          </p:nvSpPr>
          <p:spPr>
            <a:xfrm>
              <a:off x="5398008" y="6183884"/>
              <a:ext cx="2921000" cy="3428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(E)-1,3-bis(4-(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dimethylamino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4" name="Group 43"/>
          <p:cNvGrpSpPr>
            <a:grpSpLocks noGrp="1" noUngrp="1" noChangeAspect="1"/>
          </p:cNvGrpSpPr>
          <p:nvPr/>
        </p:nvGrpSpPr>
        <p:grpSpPr>
          <a:xfrm>
            <a:off x="5867400" y="2800350"/>
            <a:ext cx="3124200" cy="1312597"/>
            <a:chOff x="342900" y="1027113"/>
            <a:chExt cx="4114800" cy="1728787"/>
          </a:xfrm>
        </p:grpSpPr>
        <p:pic>
          <p:nvPicPr>
            <p:cNvPr id="45" name="Picture 44" descr="74_CV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342900" y="1027113"/>
              <a:ext cx="4114800" cy="13731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Rectangle 45"/>
            <p:cNvSpPr/>
            <p:nvPr/>
          </p:nvSpPr>
          <p:spPr>
            <a:xfrm>
              <a:off x="342900" y="241300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77500" lnSpcReduction="20000"/>
            </a:bodyPr>
            <a:lstStyle/>
            <a:p>
              <a:pPr algn="ctr"/>
              <a:r>
                <a:rPr lang="en-US" sz="16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600" dirty="0" smtClean="0">
                  <a:latin typeface="Times New Roman" pitchFamily="18" charset="0"/>
                  <a:cs typeface="Times New Roman" pitchFamily="18" charset="0"/>
                </a:rPr>
                <a:t>(4-(pyrrolidin-1-yl)phenyl)</a:t>
              </a:r>
              <a:r>
                <a:rPr lang="en-US" sz="16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Grp="1" noUngrp="1" noChangeAspect="1"/>
          </p:cNvGrpSpPr>
          <p:nvPr/>
        </p:nvGrpSpPr>
        <p:grpSpPr>
          <a:xfrm>
            <a:off x="0" y="401991"/>
            <a:ext cx="2362200" cy="1826859"/>
            <a:chOff x="4549140" y="487363"/>
            <a:chExt cx="4251960" cy="3288347"/>
          </a:xfrm>
        </p:grpSpPr>
        <p:pic>
          <p:nvPicPr>
            <p:cNvPr id="12" name="Picture 11" descr="75_CV.jpg"/>
            <p:cNvPicPr>
              <a:picLocks noRot="1" noChangeAspect="1" noMove="1" noResize="1"/>
            </p:cNvPicPr>
            <p:nvPr isPhoto="1"/>
          </p:nvPicPr>
          <p:blipFill>
            <a:blip r:embed="rId2" cstate="print">
              <a:lum/>
            </a:blip>
            <a:stretch>
              <a:fillRect/>
            </a:stretch>
          </p:blipFill>
          <p:spPr>
            <a:xfrm>
              <a:off x="4686300" y="487363"/>
              <a:ext cx="4114800" cy="245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ectangle 12"/>
            <p:cNvSpPr/>
            <p:nvPr/>
          </p:nvSpPr>
          <p:spPr>
            <a:xfrm>
              <a:off x="4549140" y="3432810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(Z)-1-methyl-3-((2,3,6,7-tetrahydro-1H,5H-pyrido[3,2,1-ij]quinolin-9-yl)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4" name="Group 13"/>
          <p:cNvGrpSpPr>
            <a:grpSpLocks noGrp="1" noUngrp="1" noChangeAspect="1"/>
          </p:cNvGrpSpPr>
          <p:nvPr/>
        </p:nvGrpSpPr>
        <p:grpSpPr>
          <a:xfrm>
            <a:off x="2438400" y="182017"/>
            <a:ext cx="2133600" cy="2008733"/>
            <a:chOff x="679450" y="3543300"/>
            <a:chExt cx="3440113" cy="3238783"/>
          </a:xfrm>
        </p:grpSpPr>
        <p:pic>
          <p:nvPicPr>
            <p:cNvPr id="15" name="Picture 14" descr="76_CV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679450" y="3543300"/>
              <a:ext cx="34401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tangle 15"/>
            <p:cNvSpPr/>
            <p:nvPr/>
          </p:nvSpPr>
          <p:spPr>
            <a:xfrm>
              <a:off x="679450" y="6439183"/>
              <a:ext cx="344011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(E)-5-benzyl-1-((E)-3-(4-methoxyphenyl)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allylidene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)-2,2,3-trimethyl-4-oxoimidazolidin-1-ium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7" name="Group 16"/>
          <p:cNvGrpSpPr>
            <a:grpSpLocks noGrp="1" noUngrp="1" noChangeAspect="1"/>
          </p:cNvGrpSpPr>
          <p:nvPr/>
        </p:nvGrpSpPr>
        <p:grpSpPr>
          <a:xfrm>
            <a:off x="4572000" y="76200"/>
            <a:ext cx="2249923" cy="2811898"/>
            <a:chOff x="5815594" y="3543300"/>
            <a:chExt cx="2438765" cy="3047909"/>
          </a:xfrm>
        </p:grpSpPr>
        <p:pic>
          <p:nvPicPr>
            <p:cNvPr id="18" name="Picture 17" descr="77_CV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5854700" y="3543300"/>
              <a:ext cx="177800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5815594" y="6248309"/>
              <a:ext cx="243876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(E)-2-(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diphenyl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((trimethyl-l4-sulfanyl)oxy)methyl)-1-((E)-3-phenylallylidene)pyrrolidin-1-ium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0" name="Group 19"/>
          <p:cNvGrpSpPr>
            <a:grpSpLocks noGrp="1" noUngrp="1" noChangeAspect="1"/>
          </p:cNvGrpSpPr>
          <p:nvPr/>
        </p:nvGrpSpPr>
        <p:grpSpPr>
          <a:xfrm>
            <a:off x="6553200" y="361950"/>
            <a:ext cx="2298663" cy="1639355"/>
            <a:chOff x="342900" y="544513"/>
            <a:chExt cx="4114800" cy="2934584"/>
          </a:xfrm>
        </p:grpSpPr>
        <p:pic>
          <p:nvPicPr>
            <p:cNvPr id="21" name="Picture 20" descr="78_CV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342900" y="544513"/>
              <a:ext cx="4114800" cy="23383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Rectangle 21"/>
            <p:cNvSpPr/>
            <p:nvPr/>
          </p:nvSpPr>
          <p:spPr>
            <a:xfrm>
              <a:off x="342900" y="3136197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(1-methyl-1,2,3,4-tetrahydroquinolin-6-yl)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3" name="Group 9"/>
          <p:cNvGrpSpPr>
            <a:grpSpLocks noGrp="1" noUngrp="1" noChangeAspect="1"/>
          </p:cNvGrpSpPr>
          <p:nvPr/>
        </p:nvGrpSpPr>
        <p:grpSpPr>
          <a:xfrm>
            <a:off x="152400" y="2952750"/>
            <a:ext cx="1334427" cy="1687864"/>
            <a:chOff x="1003300" y="3543300"/>
            <a:chExt cx="2792413" cy="3532012"/>
          </a:xfrm>
        </p:grpSpPr>
        <p:pic>
          <p:nvPicPr>
            <p:cNvPr id="24" name="Picture 23" descr="7_CV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1003300" y="3543300"/>
              <a:ext cx="27924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Rectangle 24"/>
            <p:cNvSpPr/>
            <p:nvPr/>
          </p:nvSpPr>
          <p:spPr>
            <a:xfrm>
              <a:off x="1003300" y="6732411"/>
              <a:ext cx="2792413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(E)-1,3-bis(3,5-difluorophenyl)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6" name="Group 25"/>
          <p:cNvGrpSpPr>
            <a:grpSpLocks noGrp="1" noUngrp="1" noChangeAspect="1"/>
          </p:cNvGrpSpPr>
          <p:nvPr/>
        </p:nvGrpSpPr>
        <p:grpSpPr>
          <a:xfrm>
            <a:off x="1600200" y="2571750"/>
            <a:ext cx="2514600" cy="2179481"/>
            <a:chOff x="5087938" y="457200"/>
            <a:chExt cx="3311525" cy="2870200"/>
          </a:xfrm>
        </p:grpSpPr>
        <p:pic>
          <p:nvPicPr>
            <p:cNvPr id="27" name="Picture 26" descr="80_CV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5087938" y="457200"/>
              <a:ext cx="331152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Rectangle 27"/>
            <p:cNvSpPr/>
            <p:nvPr/>
          </p:nvSpPr>
          <p:spPr>
            <a:xfrm>
              <a:off x="5087938" y="2984500"/>
              <a:ext cx="3311525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(E)-N-benzyl-1-phenyl-N-(3-phenylallylidene)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methanaminium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9" name="Group 28"/>
          <p:cNvGrpSpPr>
            <a:grpSpLocks noGrp="1" noUngrp="1" noChangeAspect="1"/>
          </p:cNvGrpSpPr>
          <p:nvPr/>
        </p:nvGrpSpPr>
        <p:grpSpPr>
          <a:xfrm>
            <a:off x="4038600" y="3105148"/>
            <a:ext cx="2209801" cy="1327152"/>
            <a:chOff x="342900" y="3913188"/>
            <a:chExt cx="4114800" cy="2471248"/>
          </a:xfrm>
        </p:grpSpPr>
        <p:pic>
          <p:nvPicPr>
            <p:cNvPr id="30" name="Picture 29" descr="81_CV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342900" y="3913188"/>
              <a:ext cx="4114800" cy="17732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Rectangle 30"/>
            <p:cNvSpPr/>
            <p:nvPr/>
          </p:nvSpPr>
          <p:spPr>
            <a:xfrm>
              <a:off x="342900" y="6041536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(E)-4-(3-phenylallylidene)morpholin-4-ium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2" name="Group 31"/>
          <p:cNvGrpSpPr>
            <a:grpSpLocks noGrp="1" noUngrp="1" noChangeAspect="1"/>
          </p:cNvGrpSpPr>
          <p:nvPr/>
        </p:nvGrpSpPr>
        <p:grpSpPr>
          <a:xfrm>
            <a:off x="6400800" y="2800350"/>
            <a:ext cx="2438400" cy="1727200"/>
            <a:chOff x="4686300" y="3665538"/>
            <a:chExt cx="4114800" cy="2914650"/>
          </a:xfrm>
        </p:grpSpPr>
        <p:pic>
          <p:nvPicPr>
            <p:cNvPr id="33" name="Picture 32" descr="82_CV.jpg"/>
            <p:cNvPicPr>
              <a:picLocks noRot="1" noChangeAspect="1" noMove="1" noResize="1"/>
            </p:cNvPicPr>
            <p:nvPr isPhoto="1"/>
          </p:nvPicPr>
          <p:blipFill>
            <a:blip r:embed="rId9" cstate="print">
              <a:lum/>
            </a:blip>
            <a:stretch>
              <a:fillRect/>
            </a:stretch>
          </p:blipFill>
          <p:spPr>
            <a:xfrm>
              <a:off x="4686300" y="3665538"/>
              <a:ext cx="4114800" cy="2268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Rectangle 33"/>
            <p:cNvSpPr/>
            <p:nvPr/>
          </p:nvSpPr>
          <p:spPr>
            <a:xfrm>
              <a:off x="4686300" y="623728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(1-methylindolin-5-yl)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742950"/>
            <a:ext cx="1905000" cy="1484531"/>
            <a:chOff x="228600" y="742950"/>
            <a:chExt cx="1905000" cy="1484531"/>
          </a:xfrm>
        </p:grpSpPr>
        <p:pic>
          <p:nvPicPr>
            <p:cNvPr id="1026" name="Picture 2" descr="C:\Users\BASCALBECK\Desktop\Only_opt_gjf\JCC\84_CV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3400" y="742950"/>
              <a:ext cx="1492250" cy="724238"/>
            </a:xfrm>
            <a:prstGeom prst="rect">
              <a:avLst/>
            </a:prstGeom>
            <a:noFill/>
          </p:spPr>
        </p:pic>
        <p:sp>
          <p:nvSpPr>
            <p:cNvPr id="4" name="TextBox 3"/>
            <p:cNvSpPr txBox="1"/>
            <p:nvPr/>
          </p:nvSpPr>
          <p:spPr>
            <a:xfrm>
              <a:off x="228600" y="1581150"/>
              <a:ext cx="1905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(E)-N-methyl-N-(3-phenylallylidene)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methanaminium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905000" y="361950"/>
            <a:ext cx="2895600" cy="1909465"/>
            <a:chOff x="1447800" y="361950"/>
            <a:chExt cx="2895600" cy="1909465"/>
          </a:xfrm>
        </p:grpSpPr>
        <p:pic>
          <p:nvPicPr>
            <p:cNvPr id="1027" name="Picture 3" descr="C:\Users\BASCALBECK\Desktop\Only_opt_gjf\JCC\87_CV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52600" y="361950"/>
              <a:ext cx="2197027" cy="1276350"/>
            </a:xfrm>
            <a:prstGeom prst="rect">
              <a:avLst/>
            </a:prstGeom>
            <a:noFill/>
          </p:spPr>
        </p:pic>
        <p:sp>
          <p:nvSpPr>
            <p:cNvPr id="5" name="TextBox 4"/>
            <p:cNvSpPr txBox="1"/>
            <p:nvPr/>
          </p:nvSpPr>
          <p:spPr>
            <a:xfrm>
              <a:off x="1447800" y="1809750"/>
              <a:ext cx="2895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(2,3,6,7-tetrahydro-1H,5H-pyrido[3,2,1-ij]quinolin-9-yl)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Group 5"/>
          <p:cNvGrpSpPr>
            <a:grpSpLocks noGrp="1" noUngrp="1" noChangeAspect="1"/>
          </p:cNvGrpSpPr>
          <p:nvPr/>
        </p:nvGrpSpPr>
        <p:grpSpPr>
          <a:xfrm>
            <a:off x="4724400" y="209551"/>
            <a:ext cx="2133600" cy="2285999"/>
            <a:chOff x="1222375" y="3543300"/>
            <a:chExt cx="2976505" cy="3189109"/>
          </a:xfrm>
        </p:grpSpPr>
        <p:pic>
          <p:nvPicPr>
            <p:cNvPr id="7" name="Picture 6" descr="91_CV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1222375" y="3543300"/>
              <a:ext cx="2355850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1222375" y="6413498"/>
              <a:ext cx="2976505" cy="31891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(E)-1,3-bis(2,3,6,7-tetrahydro-1H,5H-pyrido[3,2,1-ij]quinolin-9-yl)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allylium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9" name="Group 8"/>
          <p:cNvGrpSpPr>
            <a:grpSpLocks noGrp="1" noUngrp="1" noChangeAspect="1"/>
          </p:cNvGrpSpPr>
          <p:nvPr/>
        </p:nvGrpSpPr>
        <p:grpSpPr>
          <a:xfrm>
            <a:off x="6477000" y="438150"/>
            <a:ext cx="2582640" cy="1905000"/>
            <a:chOff x="4686300" y="3703638"/>
            <a:chExt cx="4114800" cy="3035149"/>
          </a:xfrm>
        </p:grpSpPr>
        <p:pic>
          <p:nvPicPr>
            <p:cNvPr id="10" name="Picture 9" descr="92_CV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4686300" y="3703638"/>
              <a:ext cx="4114800" cy="2193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/>
            <p:cNvSpPr/>
            <p:nvPr/>
          </p:nvSpPr>
          <p:spPr>
            <a:xfrm>
              <a:off x="5280329" y="6374569"/>
              <a:ext cx="3143553" cy="364218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(E)-1-(3-phenylallylidene)pyrrolidin-1-ium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2" name="Group 11"/>
          <p:cNvGrpSpPr>
            <a:grpSpLocks noGrp="1" noUngrp="1" noChangeAspect="1"/>
          </p:cNvGrpSpPr>
          <p:nvPr/>
        </p:nvGrpSpPr>
        <p:grpSpPr>
          <a:xfrm>
            <a:off x="228600" y="2495550"/>
            <a:ext cx="2286000" cy="1499305"/>
            <a:chOff x="342900" y="542925"/>
            <a:chExt cx="4114800" cy="2698750"/>
          </a:xfrm>
        </p:grpSpPr>
        <p:pic>
          <p:nvPicPr>
            <p:cNvPr id="13" name="Picture 12" descr="94_CV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342900" y="542925"/>
              <a:ext cx="4114800" cy="2343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/>
            <p:cNvSpPr/>
            <p:nvPr/>
          </p:nvSpPr>
          <p:spPr>
            <a:xfrm>
              <a:off x="342900" y="2898775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(E)-1-(3-phenylallylidene)pyrrolidin-1-ium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5" name="Group 14"/>
          <p:cNvGrpSpPr>
            <a:grpSpLocks noGrp="1" noUngrp="1" noChangeAspect="1"/>
          </p:cNvGrpSpPr>
          <p:nvPr/>
        </p:nvGrpSpPr>
        <p:grpSpPr>
          <a:xfrm>
            <a:off x="3124200" y="2876550"/>
            <a:ext cx="2050067" cy="1800478"/>
            <a:chOff x="4987925" y="457200"/>
            <a:chExt cx="3509963" cy="3082634"/>
          </a:xfrm>
        </p:grpSpPr>
        <p:pic>
          <p:nvPicPr>
            <p:cNvPr id="16" name="Picture 15" descr="95_CV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4987925" y="457200"/>
              <a:ext cx="350996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Rectangle 16"/>
            <p:cNvSpPr/>
            <p:nvPr/>
          </p:nvSpPr>
          <p:spPr>
            <a:xfrm>
              <a:off x="4987925" y="3196934"/>
              <a:ext cx="350996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(E)-3-((1,2-dimethyl-1H-indol-3-yl)</a:t>
              </a:r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methylene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)-1,2-dimethyl-3H-indol-1-ium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8" name="Group 12"/>
          <p:cNvGrpSpPr>
            <a:grpSpLocks noGrp="1" noUngrp="1" noChangeAspect="1"/>
          </p:cNvGrpSpPr>
          <p:nvPr/>
        </p:nvGrpSpPr>
        <p:grpSpPr>
          <a:xfrm>
            <a:off x="5562600" y="2952750"/>
            <a:ext cx="1934006" cy="1380367"/>
            <a:chOff x="4686300" y="3681413"/>
            <a:chExt cx="4114800" cy="2936875"/>
          </a:xfrm>
        </p:grpSpPr>
        <p:pic>
          <p:nvPicPr>
            <p:cNvPr id="19" name="Picture 18" descr="9_CV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4686300" y="3681413"/>
              <a:ext cx="4114800" cy="2238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Rectangle 19"/>
            <p:cNvSpPr/>
            <p:nvPr/>
          </p:nvSpPr>
          <p:spPr>
            <a:xfrm>
              <a:off x="4686300" y="6275388"/>
              <a:ext cx="4114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err="1" smtClean="0">
                  <a:latin typeface="Times New Roman" pitchFamily="18" charset="0"/>
                  <a:cs typeface="Times New Roman" pitchFamily="18" charset="0"/>
                </a:rPr>
                <a:t>bis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(4-chlorophenyl)</a:t>
              </a:r>
              <a:r>
                <a:rPr lang="en-US" sz="1200" smtClean="0">
                  <a:latin typeface="Times New Roman" pitchFamily="18" charset="0"/>
                  <a:cs typeface="Times New Roman" pitchFamily="18" charset="0"/>
                </a:rPr>
                <a:t>methylium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325</Words>
  <Application>Microsoft Office PowerPoint</Application>
  <PresentationFormat>On-screen Show (16:9)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BASCALBECK</dc:creator>
  <cp:lastModifiedBy>STUDENT</cp:lastModifiedBy>
  <cp:revision>16</cp:revision>
  <dcterms:created xsi:type="dcterms:W3CDTF">2026-04-28T02:32:28Z</dcterms:created>
  <dcterms:modified xsi:type="dcterms:W3CDTF">2026-05-15T10:53:57Z</dcterms:modified>
</cp:coreProperties>
</file>